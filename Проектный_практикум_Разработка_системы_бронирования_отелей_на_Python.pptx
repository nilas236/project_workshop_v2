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57313" y="1167836"/>
            <a:ext cx="6429375" cy="2807829"/>
          </a:xfrm>
          <a:prstGeom prst="rect">
            <a:avLst/>
          </a:prstGeom>
          <a:solidFill>
            <a:srgbClr val="1E1E1E">
              <a:alpha val="90000"/>
            </a:srgbClr>
          </a:solidFill>
          <a:ln w="18288">
            <a:solidFill>
              <a:srgbClr val="4EC9B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500188" y="1096398"/>
            <a:ext cx="746522" cy="150019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" name="Text 2"/>
          <p:cNvSpPr/>
          <p:nvPr/>
        </p:nvSpPr>
        <p:spPr>
          <a:xfrm>
            <a:off x="1500188" y="1096398"/>
            <a:ext cx="746522" cy="150019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MAIN_MODULE</a:t>
            </a:r>
            <a:endParaRPr lang="en-US" sz="834" dirty="0"/>
          </a:p>
        </p:txBody>
      </p:sp>
      <p:sp>
        <p:nvSpPr>
          <p:cNvPr id="6" name="Text 3"/>
          <p:cNvSpPr/>
          <p:nvPr/>
        </p:nvSpPr>
        <p:spPr>
          <a:xfrm>
            <a:off x="1785938" y="1610748"/>
            <a:ext cx="5572125" cy="5486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Проектный практикум</a:t>
            </a:r>
            <a:endParaRPr lang="en-US" sz="3294" dirty="0"/>
          </a:p>
        </p:txBody>
      </p:sp>
      <p:sp>
        <p:nvSpPr>
          <p:cNvPr id="7" name="Text 4"/>
          <p:cNvSpPr/>
          <p:nvPr/>
        </p:nvSpPr>
        <p:spPr>
          <a:xfrm>
            <a:off x="1785938" y="2302241"/>
            <a:ext cx="557212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Разработка системы бронирования отелей на Python</a:t>
            </a:r>
            <a:endParaRPr lang="en-US" sz="1602" dirty="0"/>
          </a:p>
        </p:txBody>
      </p:sp>
      <p:sp>
        <p:nvSpPr>
          <p:cNvPr id="8" name="Text 5"/>
          <p:cNvSpPr/>
          <p:nvPr/>
        </p:nvSpPr>
        <p:spPr>
          <a:xfrm>
            <a:off x="1785938" y="3345228"/>
            <a:ext cx="1971675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&gt;</a:t>
            </a:r>
            <a:r>
              <a:rPr lang="en-US" sz="1050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Course: 23-ЗИЭ-1 КГТУ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186238" y="3345228"/>
            <a:ext cx="3171825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&gt;</a:t>
            </a:r>
            <a:r>
              <a:rPr lang="en-US" sz="1050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Авторы: Мещерский, Шульпин, Данилин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954441" y="4182666"/>
            <a:ext cx="1760934" cy="675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EC9B0">
                    <a:alpha val="30000"/>
                  </a:srgbClr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import fastapi</a:t>
            </a:r>
            <a:r>
              <a:rPr lang="en-US" sz="1193" b="1" dirty="0">
                <a:solidFill>
                  <a:srgbClr val="4EC9B0">
                    <a:alpha val="30000"/>
                  </a:srgbClr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1193" b="1" dirty="0">
                <a:solidFill>
                  <a:srgbClr val="4EC9B0">
                    <a:alpha val="30000"/>
                  </a:srgbClr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import sqlalchemy</a:t>
            </a:r>
            <a:r>
              <a:rPr lang="en-US" sz="1193" b="1" dirty="0">
                <a:solidFill>
                  <a:srgbClr val="4EC9B0">
                    <a:alpha val="30000"/>
                  </a:srgbClr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1193" b="1" dirty="0">
                <a:solidFill>
                  <a:srgbClr val="4EC9B0">
                    <a:alpha val="30000"/>
                  </a:srgbClr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import celery</a:t>
            </a:r>
            <a:endParaRPr lang="en-US" sz="119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65901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1073348"/>
            <a:ext cx="8286750" cy="14288"/>
          </a:xfrm>
          <a:prstGeom prst="rect">
            <a:avLst/>
          </a:prstGeom>
          <a:solidFill>
            <a:srgbClr val="4EC9B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2867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Архитектура проекта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28625" y="800100"/>
            <a:ext cx="828675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Многослойная архитектура FastAPI-приложения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28625" y="1216223"/>
            <a:ext cx="8286750" cy="585788"/>
          </a:xfrm>
          <a:prstGeom prst="rect">
            <a:avLst/>
          </a:prstGeom>
          <a:solidFill>
            <a:srgbClr val="1E1E1E">
              <a:alpha val="90000"/>
            </a:srgbClr>
          </a:solidFill>
          <a:ln w="18288">
            <a:solidFill>
              <a:srgbClr val="A4A4A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28625" y="1216223"/>
            <a:ext cx="8286750" cy="585788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Проект построен по принципу разделения ответственности с чёткой иерархией слоёв. Это обеспечивает </a:t>
            </a:r>
            <a:r>
              <a:rPr lang="en-US" sz="942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масштабируемость, тестируемость и независимость компонентов друг от друга.</a:t>
            </a:r>
            <a:endParaRPr lang="en-US" sz="942" dirty="0"/>
          </a:p>
        </p:txBody>
      </p:sp>
      <p:sp>
        <p:nvSpPr>
          <p:cNvPr id="9" name="Shape 6"/>
          <p:cNvSpPr/>
          <p:nvPr/>
        </p:nvSpPr>
        <p:spPr>
          <a:xfrm>
            <a:off x="428625" y="1916311"/>
            <a:ext cx="8286750" cy="2450306"/>
          </a:xfrm>
          <a:prstGeom prst="rect">
            <a:avLst/>
          </a:prstGeom>
          <a:solidFill>
            <a:srgbClr val="1E1E1E">
              <a:alpha val="90000"/>
            </a:srgbClr>
          </a:solidFill>
          <a:ln w="18288">
            <a:solidFill>
              <a:srgbClr val="4EC9B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1500" y="1130498"/>
            <a:ext cx="1275159" cy="150019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1" name="Text 8"/>
          <p:cNvSpPr/>
          <p:nvPr/>
        </p:nvSpPr>
        <p:spPr>
          <a:xfrm>
            <a:off x="571500" y="1130498"/>
            <a:ext cx="1275159" cy="150019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ARCHITECTURE_OVERVIEW</a:t>
            </a:r>
            <a:endParaRPr lang="en-US" sz="683" dirty="0"/>
          </a:p>
        </p:txBody>
      </p:sp>
      <p:sp>
        <p:nvSpPr>
          <p:cNvPr id="12" name="Shape 9"/>
          <p:cNvSpPr/>
          <p:nvPr/>
        </p:nvSpPr>
        <p:spPr>
          <a:xfrm>
            <a:off x="432197" y="1919883"/>
            <a:ext cx="2069902" cy="242888"/>
          </a:xfrm>
          <a:prstGeom prst="rect">
            <a:avLst/>
          </a:prstGeom>
          <a:solidFill>
            <a:srgbClr val="4EC9B0">
              <a:alpha val="10000"/>
            </a:srgbClr>
          </a:solidFill>
          <a:ln w="9144">
            <a:solidFill>
              <a:srgbClr val="4EC9B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2197" y="1919883"/>
            <a:ext cx="2069902" cy="242888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ДИРЕКТОРИЯ (SRC/)</a:t>
            </a:r>
            <a:endParaRPr lang="en-US" sz="784" dirty="0"/>
          </a:p>
        </p:txBody>
      </p:sp>
      <p:sp>
        <p:nvSpPr>
          <p:cNvPr id="14" name="Shape 11"/>
          <p:cNvSpPr/>
          <p:nvPr/>
        </p:nvSpPr>
        <p:spPr>
          <a:xfrm>
            <a:off x="2502098" y="1919883"/>
            <a:ext cx="6209705" cy="242888"/>
          </a:xfrm>
          <a:prstGeom prst="rect">
            <a:avLst/>
          </a:prstGeom>
          <a:solidFill>
            <a:srgbClr val="4EC9B0">
              <a:alpha val="10000"/>
            </a:srgbClr>
          </a:solidFill>
          <a:ln w="9144">
            <a:solidFill>
              <a:srgbClr val="4EC9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02098" y="1919883"/>
            <a:ext cx="6209705" cy="242888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НАЗНАЧЕНИЕ В АРХИТЕКТУРЕ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432197" y="2155627"/>
            <a:ext cx="2069902" cy="242888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api/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2502098" y="2155627"/>
            <a:ext cx="6209705" cy="242888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Роутеры FastAPI (отели, номера, бронирования, авторизация, удобства, изображения)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432197" y="2398514"/>
            <a:ext cx="2069902" cy="242888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models/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2502098" y="2398514"/>
            <a:ext cx="6209705" cy="242888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ORM-модели SQLAlchemy для взаимодействия с базой данных</a:t>
            </a:r>
            <a:endParaRPr lang="en-US" sz="834" dirty="0"/>
          </a:p>
        </p:txBody>
      </p:sp>
      <p:sp>
        <p:nvSpPr>
          <p:cNvPr id="20" name="Text 17"/>
          <p:cNvSpPr/>
          <p:nvPr/>
        </p:nvSpPr>
        <p:spPr>
          <a:xfrm>
            <a:off x="432197" y="2641402"/>
            <a:ext cx="2069902" cy="242888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schemas/</a:t>
            </a:r>
            <a:endParaRPr lang="en-US" sz="784" dirty="0"/>
          </a:p>
        </p:txBody>
      </p:sp>
      <p:sp>
        <p:nvSpPr>
          <p:cNvPr id="21" name="Text 18"/>
          <p:cNvSpPr/>
          <p:nvPr/>
        </p:nvSpPr>
        <p:spPr>
          <a:xfrm>
            <a:off x="2502098" y="2641402"/>
            <a:ext cx="6209705" cy="242888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Pydantic-схемы для строгой валидации входных и выходных данных</a:t>
            </a:r>
            <a:endParaRPr lang="en-US" sz="834" dirty="0"/>
          </a:p>
        </p:txBody>
      </p:sp>
      <p:sp>
        <p:nvSpPr>
          <p:cNvPr id="22" name="Text 19"/>
          <p:cNvSpPr/>
          <p:nvPr/>
        </p:nvSpPr>
        <p:spPr>
          <a:xfrm>
            <a:off x="432197" y="2884289"/>
            <a:ext cx="2069902" cy="242888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repositories/</a:t>
            </a:r>
            <a:endParaRPr lang="en-US" sz="784" dirty="0"/>
          </a:p>
        </p:txBody>
      </p:sp>
      <p:sp>
        <p:nvSpPr>
          <p:cNvPr id="23" name="Text 20"/>
          <p:cNvSpPr/>
          <p:nvPr/>
        </p:nvSpPr>
        <p:spPr>
          <a:xfrm>
            <a:off x="2502098" y="2884289"/>
            <a:ext cx="6209705" cy="242888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Паттерн Repository для абстрагирования логики работы с БД</a:t>
            </a:r>
            <a:endParaRPr lang="en-US" sz="834" dirty="0"/>
          </a:p>
        </p:txBody>
      </p:sp>
      <p:sp>
        <p:nvSpPr>
          <p:cNvPr id="24" name="Text 21"/>
          <p:cNvSpPr/>
          <p:nvPr/>
        </p:nvSpPr>
        <p:spPr>
          <a:xfrm>
            <a:off x="432197" y="3127177"/>
            <a:ext cx="2069902" cy="242888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services/</a:t>
            </a:r>
            <a:endParaRPr lang="en-US" sz="784" dirty="0"/>
          </a:p>
        </p:txBody>
      </p:sp>
      <p:sp>
        <p:nvSpPr>
          <p:cNvPr id="25" name="Text 22"/>
          <p:cNvSpPr/>
          <p:nvPr/>
        </p:nvSpPr>
        <p:spPr>
          <a:xfrm>
            <a:off x="2502098" y="3127177"/>
            <a:ext cx="6209705" cy="242888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Бизнес-логика приложения, связывающая репозитории и API</a:t>
            </a:r>
            <a:endParaRPr lang="en-US" sz="834" dirty="0"/>
          </a:p>
        </p:txBody>
      </p:sp>
      <p:sp>
        <p:nvSpPr>
          <p:cNvPr id="26" name="Text 23"/>
          <p:cNvSpPr/>
          <p:nvPr/>
        </p:nvSpPr>
        <p:spPr>
          <a:xfrm>
            <a:off x="432197" y="3370064"/>
            <a:ext cx="2069902" cy="242888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tasks/</a:t>
            </a:r>
            <a:endParaRPr lang="en-US" sz="784" dirty="0"/>
          </a:p>
        </p:txBody>
      </p:sp>
      <p:sp>
        <p:nvSpPr>
          <p:cNvPr id="27" name="Text 24"/>
          <p:cNvSpPr/>
          <p:nvPr/>
        </p:nvSpPr>
        <p:spPr>
          <a:xfrm>
            <a:off x="2502098" y="3370064"/>
            <a:ext cx="6209705" cy="242888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Фоновые и периодические задачи Celery (например, обработка изображений)</a:t>
            </a:r>
            <a:endParaRPr lang="en-US" sz="834" dirty="0"/>
          </a:p>
        </p:txBody>
      </p:sp>
      <p:sp>
        <p:nvSpPr>
          <p:cNvPr id="28" name="Text 25"/>
          <p:cNvSpPr/>
          <p:nvPr/>
        </p:nvSpPr>
        <p:spPr>
          <a:xfrm>
            <a:off x="432197" y="3612952"/>
            <a:ext cx="2069902" cy="242888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connectors/</a:t>
            </a:r>
            <a:endParaRPr lang="en-US" sz="784" dirty="0"/>
          </a:p>
        </p:txBody>
      </p:sp>
      <p:sp>
        <p:nvSpPr>
          <p:cNvPr id="29" name="Text 26"/>
          <p:cNvSpPr/>
          <p:nvPr/>
        </p:nvSpPr>
        <p:spPr>
          <a:xfrm>
            <a:off x="2502098" y="3612952"/>
            <a:ext cx="6209705" cy="242888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Подключения к внешним сервисам и интеграции</a:t>
            </a:r>
            <a:endParaRPr lang="en-US" sz="834" dirty="0"/>
          </a:p>
        </p:txBody>
      </p:sp>
      <p:sp>
        <p:nvSpPr>
          <p:cNvPr id="30" name="Text 27"/>
          <p:cNvSpPr/>
          <p:nvPr/>
        </p:nvSpPr>
        <p:spPr>
          <a:xfrm>
            <a:off x="432197" y="3855839"/>
            <a:ext cx="2069902" cy="242888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utils/</a:t>
            </a:r>
            <a:endParaRPr lang="en-US" sz="784" dirty="0"/>
          </a:p>
        </p:txBody>
      </p:sp>
      <p:sp>
        <p:nvSpPr>
          <p:cNvPr id="31" name="Text 28"/>
          <p:cNvSpPr/>
          <p:nvPr/>
        </p:nvSpPr>
        <p:spPr>
          <a:xfrm>
            <a:off x="2502098" y="3855839"/>
            <a:ext cx="6209705" cy="242888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Вспомогательные утилиты (DBManager, зависимости пагинации)</a:t>
            </a:r>
            <a:endParaRPr lang="en-US" sz="834" dirty="0"/>
          </a:p>
        </p:txBody>
      </p:sp>
      <p:sp>
        <p:nvSpPr>
          <p:cNvPr id="32" name="Text 29"/>
          <p:cNvSpPr/>
          <p:nvPr/>
        </p:nvSpPr>
        <p:spPr>
          <a:xfrm>
            <a:off x="432197" y="4098727"/>
            <a:ext cx="2069902" cy="242888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migrations/</a:t>
            </a:r>
            <a:endParaRPr lang="en-US" sz="784" dirty="0"/>
          </a:p>
        </p:txBody>
      </p:sp>
      <p:sp>
        <p:nvSpPr>
          <p:cNvPr id="33" name="Text 30"/>
          <p:cNvSpPr/>
          <p:nvPr/>
        </p:nvSpPr>
        <p:spPr>
          <a:xfrm>
            <a:off x="2502098" y="4098727"/>
            <a:ext cx="6209705" cy="242888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Файлы миграций Alembic для управления схемой базы данных</a:t>
            </a:r>
            <a:endParaRPr lang="en-US" sz="83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71616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1130498"/>
            <a:ext cx="8286750" cy="14288"/>
          </a:xfrm>
          <a:prstGeom prst="rect">
            <a:avLst/>
          </a:prstGeom>
          <a:solidFill>
            <a:srgbClr val="4EC9B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2867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Технологический стек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28625" y="800100"/>
            <a:ext cx="828675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Современный асинхронный стек технологий Python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28625" y="1416248"/>
            <a:ext cx="2428875" cy="1714500"/>
          </a:xfrm>
          <a:prstGeom prst="rect">
            <a:avLst/>
          </a:prstGeom>
          <a:solidFill>
            <a:srgbClr val="1E1E1E">
              <a:alpha val="90000"/>
            </a:srgbClr>
          </a:solidFill>
          <a:ln w="18288">
            <a:solidFill>
              <a:srgbClr val="A4A4A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1500" y="1330523"/>
            <a:ext cx="850106" cy="130373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9" name="Text 6"/>
          <p:cNvSpPr/>
          <p:nvPr/>
        </p:nvSpPr>
        <p:spPr>
          <a:xfrm>
            <a:off x="571500" y="1330523"/>
            <a:ext cx="850106" cy="130373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CORE_PARADIGMS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607219" y="1594842"/>
            <a:ext cx="20716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Асинхронность (AsyncIO)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607219" y="1852017"/>
            <a:ext cx="207168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Типобезопасность (Type Hints)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607219" y="2259211"/>
            <a:ext cx="20716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Масштабируемость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607219" y="2516386"/>
            <a:ext cx="20716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Фоновая обработка</a:t>
            </a:r>
            <a:endParaRPr lang="en-US" sz="834" dirty="0"/>
          </a:p>
        </p:txBody>
      </p:sp>
      <p:sp>
        <p:nvSpPr>
          <p:cNvPr id="14" name="Text 11"/>
          <p:cNvSpPr/>
          <p:nvPr/>
        </p:nvSpPr>
        <p:spPr>
          <a:xfrm>
            <a:off x="607219" y="2773561"/>
            <a:ext cx="20716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Изоляция среды</a:t>
            </a:r>
            <a:endParaRPr lang="en-US" sz="834" dirty="0"/>
          </a:p>
        </p:txBody>
      </p:sp>
      <p:sp>
        <p:nvSpPr>
          <p:cNvPr id="15" name="Shape 12"/>
          <p:cNvSpPr/>
          <p:nvPr/>
        </p:nvSpPr>
        <p:spPr>
          <a:xfrm>
            <a:off x="428625" y="3316486"/>
            <a:ext cx="2428875" cy="1185807"/>
          </a:xfrm>
          <a:prstGeom prst="rect">
            <a:avLst/>
          </a:prstGeom>
          <a:solidFill>
            <a:srgbClr val="1E1E1E">
              <a:alpha val="90000"/>
            </a:srgbClr>
          </a:solidFill>
          <a:ln w="18288">
            <a:solidFill>
              <a:srgbClr val="FFD70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71500" y="3230761"/>
            <a:ext cx="546497" cy="130373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7" name="Text 14"/>
          <p:cNvSpPr/>
          <p:nvPr/>
        </p:nvSpPr>
        <p:spPr>
          <a:xfrm>
            <a:off x="571500" y="3230761"/>
            <a:ext cx="546497" cy="130373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ENV_SETUP</a:t>
            </a:r>
            <a:endParaRPr lang="en-US" sz="683" dirty="0"/>
          </a:p>
        </p:txBody>
      </p:sp>
      <p:sp>
        <p:nvSpPr>
          <p:cNvPr id="18" name="Text 15"/>
          <p:cNvSpPr/>
          <p:nvPr/>
        </p:nvSpPr>
        <p:spPr>
          <a:xfrm>
            <a:off x="607219" y="3495080"/>
            <a:ext cx="2071688" cy="80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$ </a:t>
            </a:r>
            <a:r>
              <a:rPr lang="en-US" sz="727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pip install -r requirements.txt</a:t>
            </a:r>
            <a:r>
              <a:rPr lang="en-US" sz="727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727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$ </a:t>
            </a:r>
            <a:r>
              <a:rPr lang="en-US" sz="727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alembic upgrade head</a:t>
            </a:r>
            <a:r>
              <a:rPr lang="en-US" sz="727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727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$ </a:t>
            </a:r>
            <a:r>
              <a:rPr lang="en-US" sz="727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uvicorn src.main:app --reload</a:t>
            </a:r>
            <a:endParaRPr lang="en-US" sz="727" dirty="0"/>
          </a:p>
        </p:txBody>
      </p:sp>
      <p:sp>
        <p:nvSpPr>
          <p:cNvPr id="19" name="Shape 16"/>
          <p:cNvSpPr/>
          <p:nvPr/>
        </p:nvSpPr>
        <p:spPr>
          <a:xfrm>
            <a:off x="3143250" y="1416248"/>
            <a:ext cx="5572125" cy="3350419"/>
          </a:xfrm>
          <a:prstGeom prst="rect">
            <a:avLst/>
          </a:prstGeom>
          <a:solidFill>
            <a:srgbClr val="1E1E1E">
              <a:alpha val="90000"/>
            </a:srgbClr>
          </a:solidFill>
          <a:ln w="18288">
            <a:solidFill>
              <a:srgbClr val="4EC9B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550944" y="1330523"/>
            <a:ext cx="850106" cy="130373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1" name="Text 18"/>
          <p:cNvSpPr/>
          <p:nvPr/>
        </p:nvSpPr>
        <p:spPr>
          <a:xfrm>
            <a:off x="7550944" y="1330523"/>
            <a:ext cx="850106" cy="130373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STACK_OVERVIEW</a:t>
            </a:r>
            <a:endParaRPr lang="en-US" sz="683" dirty="0"/>
          </a:p>
        </p:txBody>
      </p:sp>
      <p:sp>
        <p:nvSpPr>
          <p:cNvPr id="22" name="Shape 19"/>
          <p:cNvSpPr/>
          <p:nvPr/>
        </p:nvSpPr>
        <p:spPr>
          <a:xfrm>
            <a:off x="3161109" y="1434108"/>
            <a:ext cx="1384102" cy="328613"/>
          </a:xfrm>
          <a:prstGeom prst="rect">
            <a:avLst/>
          </a:prstGeom>
          <a:solidFill>
            <a:srgbClr val="4EC9B0">
              <a:alpha val="10000"/>
            </a:srgbClr>
          </a:solidFill>
          <a:ln w="9144">
            <a:solidFill>
              <a:srgbClr val="4EC9B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161109" y="1434108"/>
            <a:ext cx="1384102" cy="32861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ТЕХНОЛОГИЯ</a:t>
            </a:r>
            <a:endParaRPr lang="en-US" sz="784" dirty="0"/>
          </a:p>
        </p:txBody>
      </p:sp>
      <p:sp>
        <p:nvSpPr>
          <p:cNvPr id="24" name="Shape 21"/>
          <p:cNvSpPr/>
          <p:nvPr/>
        </p:nvSpPr>
        <p:spPr>
          <a:xfrm>
            <a:off x="4545211" y="1434108"/>
            <a:ext cx="830461" cy="328613"/>
          </a:xfrm>
          <a:prstGeom prst="rect">
            <a:avLst/>
          </a:prstGeom>
          <a:solidFill>
            <a:srgbClr val="4EC9B0">
              <a:alpha val="10000"/>
            </a:srgbClr>
          </a:solidFill>
          <a:ln w="9144">
            <a:solidFill>
              <a:srgbClr val="4EC9B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45211" y="1434108"/>
            <a:ext cx="830461" cy="32861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ВЕРСИЯ</a:t>
            </a:r>
            <a:endParaRPr lang="en-US" sz="784" dirty="0"/>
          </a:p>
        </p:txBody>
      </p:sp>
      <p:sp>
        <p:nvSpPr>
          <p:cNvPr id="26" name="Shape 23"/>
          <p:cNvSpPr/>
          <p:nvPr/>
        </p:nvSpPr>
        <p:spPr>
          <a:xfrm>
            <a:off x="5375672" y="1434108"/>
            <a:ext cx="3321844" cy="328613"/>
          </a:xfrm>
          <a:prstGeom prst="rect">
            <a:avLst/>
          </a:prstGeom>
          <a:solidFill>
            <a:srgbClr val="4EC9B0">
              <a:alpha val="10000"/>
            </a:srgbClr>
          </a:solidFill>
          <a:ln w="9144">
            <a:solidFill>
              <a:srgbClr val="4EC9B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75672" y="1434108"/>
            <a:ext cx="3321844" cy="32861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НАЗНАЧЕНИЕ</a:t>
            </a:r>
            <a:endParaRPr lang="en-US" sz="784" dirty="0"/>
          </a:p>
        </p:txBody>
      </p:sp>
      <p:sp>
        <p:nvSpPr>
          <p:cNvPr id="28" name="Text 25"/>
          <p:cNvSpPr/>
          <p:nvPr/>
        </p:nvSpPr>
        <p:spPr>
          <a:xfrm>
            <a:off x="3161109" y="1755577"/>
            <a:ext cx="1384102" cy="32861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FastAPI</a:t>
            </a:r>
            <a:endParaRPr lang="en-US" sz="784" dirty="0"/>
          </a:p>
        </p:txBody>
      </p:sp>
      <p:sp>
        <p:nvSpPr>
          <p:cNvPr id="29" name="Text 26"/>
          <p:cNvSpPr/>
          <p:nvPr/>
        </p:nvSpPr>
        <p:spPr>
          <a:xfrm>
            <a:off x="4545211" y="1755577"/>
            <a:ext cx="830461" cy="32861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0.111.1</a:t>
            </a:r>
            <a:endParaRPr lang="en-US" sz="834" dirty="0"/>
          </a:p>
        </p:txBody>
      </p:sp>
      <p:sp>
        <p:nvSpPr>
          <p:cNvPr id="30" name="Text 27"/>
          <p:cNvSpPr/>
          <p:nvPr/>
        </p:nvSpPr>
        <p:spPr>
          <a:xfrm>
            <a:off x="5375672" y="1755577"/>
            <a:ext cx="3321844" cy="32861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Асинхронный веб-фреймворк</a:t>
            </a:r>
            <a:endParaRPr lang="en-US" sz="834" dirty="0"/>
          </a:p>
        </p:txBody>
      </p:sp>
      <p:sp>
        <p:nvSpPr>
          <p:cNvPr id="31" name="Text 28"/>
          <p:cNvSpPr/>
          <p:nvPr/>
        </p:nvSpPr>
        <p:spPr>
          <a:xfrm>
            <a:off x="3161109" y="2084189"/>
            <a:ext cx="1384102" cy="32861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SQLAlchemy</a:t>
            </a:r>
            <a:endParaRPr lang="en-US" sz="784" dirty="0"/>
          </a:p>
        </p:txBody>
      </p:sp>
      <p:sp>
        <p:nvSpPr>
          <p:cNvPr id="32" name="Text 29"/>
          <p:cNvSpPr/>
          <p:nvPr/>
        </p:nvSpPr>
        <p:spPr>
          <a:xfrm>
            <a:off x="4545211" y="2084189"/>
            <a:ext cx="830461" cy="32861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async</a:t>
            </a:r>
            <a:endParaRPr lang="en-US" sz="834" dirty="0"/>
          </a:p>
        </p:txBody>
      </p:sp>
      <p:sp>
        <p:nvSpPr>
          <p:cNvPr id="33" name="Text 30"/>
          <p:cNvSpPr/>
          <p:nvPr/>
        </p:nvSpPr>
        <p:spPr>
          <a:xfrm>
            <a:off x="5375672" y="2084189"/>
            <a:ext cx="3321844" cy="32861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ORM для работы с PostgreSQL</a:t>
            </a:r>
            <a:endParaRPr lang="en-US" sz="834" dirty="0"/>
          </a:p>
        </p:txBody>
      </p:sp>
      <p:sp>
        <p:nvSpPr>
          <p:cNvPr id="34" name="Text 31"/>
          <p:cNvSpPr/>
          <p:nvPr/>
        </p:nvSpPr>
        <p:spPr>
          <a:xfrm>
            <a:off x="3161109" y="2412802"/>
            <a:ext cx="1384102" cy="32861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PostgreSQL</a:t>
            </a:r>
            <a:endParaRPr lang="en-US" sz="784" dirty="0"/>
          </a:p>
        </p:txBody>
      </p:sp>
      <p:sp>
        <p:nvSpPr>
          <p:cNvPr id="35" name="Text 32"/>
          <p:cNvSpPr/>
          <p:nvPr/>
        </p:nvSpPr>
        <p:spPr>
          <a:xfrm>
            <a:off x="4545211" y="2412802"/>
            <a:ext cx="830461" cy="32861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—</a:t>
            </a:r>
            <a:endParaRPr lang="en-US" sz="834" dirty="0"/>
          </a:p>
        </p:txBody>
      </p:sp>
      <p:sp>
        <p:nvSpPr>
          <p:cNvPr id="36" name="Text 33"/>
          <p:cNvSpPr/>
          <p:nvPr/>
        </p:nvSpPr>
        <p:spPr>
          <a:xfrm>
            <a:off x="5375672" y="2412802"/>
            <a:ext cx="3321844" cy="32861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Реляционная база данных</a:t>
            </a:r>
            <a:endParaRPr lang="en-US" sz="834" dirty="0"/>
          </a:p>
        </p:txBody>
      </p:sp>
      <p:sp>
        <p:nvSpPr>
          <p:cNvPr id="37" name="Text 34"/>
          <p:cNvSpPr/>
          <p:nvPr/>
        </p:nvSpPr>
        <p:spPr>
          <a:xfrm>
            <a:off x="3161109" y="2741414"/>
            <a:ext cx="1384102" cy="32861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Alembic</a:t>
            </a:r>
            <a:endParaRPr lang="en-US" sz="784" dirty="0"/>
          </a:p>
        </p:txBody>
      </p:sp>
      <p:sp>
        <p:nvSpPr>
          <p:cNvPr id="38" name="Text 35"/>
          <p:cNvSpPr/>
          <p:nvPr/>
        </p:nvSpPr>
        <p:spPr>
          <a:xfrm>
            <a:off x="4545211" y="2741414"/>
            <a:ext cx="830461" cy="32861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1.13.2</a:t>
            </a:r>
            <a:endParaRPr lang="en-US" sz="834" dirty="0"/>
          </a:p>
        </p:txBody>
      </p:sp>
      <p:sp>
        <p:nvSpPr>
          <p:cNvPr id="39" name="Text 36"/>
          <p:cNvSpPr/>
          <p:nvPr/>
        </p:nvSpPr>
        <p:spPr>
          <a:xfrm>
            <a:off x="5375672" y="2741414"/>
            <a:ext cx="3321844" cy="32861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Миграции базы данных</a:t>
            </a:r>
            <a:endParaRPr lang="en-US" sz="834" dirty="0"/>
          </a:p>
        </p:txBody>
      </p:sp>
      <p:sp>
        <p:nvSpPr>
          <p:cNvPr id="40" name="Text 37"/>
          <p:cNvSpPr/>
          <p:nvPr/>
        </p:nvSpPr>
        <p:spPr>
          <a:xfrm>
            <a:off x="3161109" y="3070027"/>
            <a:ext cx="1384102" cy="32861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Pydantic</a:t>
            </a:r>
            <a:endParaRPr lang="en-US" sz="784" dirty="0"/>
          </a:p>
        </p:txBody>
      </p:sp>
      <p:sp>
        <p:nvSpPr>
          <p:cNvPr id="41" name="Text 38"/>
          <p:cNvSpPr/>
          <p:nvPr/>
        </p:nvSpPr>
        <p:spPr>
          <a:xfrm>
            <a:off x="4545211" y="3070027"/>
            <a:ext cx="830461" cy="32861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2.x</a:t>
            </a:r>
            <a:endParaRPr lang="en-US" sz="834" dirty="0"/>
          </a:p>
        </p:txBody>
      </p:sp>
      <p:sp>
        <p:nvSpPr>
          <p:cNvPr id="42" name="Text 39"/>
          <p:cNvSpPr/>
          <p:nvPr/>
        </p:nvSpPr>
        <p:spPr>
          <a:xfrm>
            <a:off x="5375672" y="3070027"/>
            <a:ext cx="3321844" cy="32861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Валидация данных и настройки</a:t>
            </a:r>
            <a:endParaRPr lang="en-US" sz="834" dirty="0"/>
          </a:p>
        </p:txBody>
      </p:sp>
      <p:sp>
        <p:nvSpPr>
          <p:cNvPr id="43" name="Text 40"/>
          <p:cNvSpPr/>
          <p:nvPr/>
        </p:nvSpPr>
        <p:spPr>
          <a:xfrm>
            <a:off x="3161109" y="3398639"/>
            <a:ext cx="1384102" cy="32861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Redis</a:t>
            </a:r>
            <a:endParaRPr lang="en-US" sz="784" dirty="0"/>
          </a:p>
        </p:txBody>
      </p:sp>
      <p:sp>
        <p:nvSpPr>
          <p:cNvPr id="44" name="Text 41"/>
          <p:cNvSpPr/>
          <p:nvPr/>
        </p:nvSpPr>
        <p:spPr>
          <a:xfrm>
            <a:off x="4545211" y="3398639"/>
            <a:ext cx="830461" cy="32861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—</a:t>
            </a:r>
            <a:endParaRPr lang="en-US" sz="834" dirty="0"/>
          </a:p>
        </p:txBody>
      </p:sp>
      <p:sp>
        <p:nvSpPr>
          <p:cNvPr id="45" name="Text 42"/>
          <p:cNvSpPr/>
          <p:nvPr/>
        </p:nvSpPr>
        <p:spPr>
          <a:xfrm>
            <a:off x="5375672" y="3398639"/>
            <a:ext cx="3321844" cy="32861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Кэширование и брокер задач</a:t>
            </a:r>
            <a:endParaRPr lang="en-US" sz="834" dirty="0"/>
          </a:p>
        </p:txBody>
      </p:sp>
      <p:sp>
        <p:nvSpPr>
          <p:cNvPr id="46" name="Text 43"/>
          <p:cNvSpPr/>
          <p:nvPr/>
        </p:nvSpPr>
        <p:spPr>
          <a:xfrm>
            <a:off x="3161109" y="3727252"/>
            <a:ext cx="1384102" cy="32861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Celery</a:t>
            </a:r>
            <a:endParaRPr lang="en-US" sz="784" dirty="0"/>
          </a:p>
        </p:txBody>
      </p:sp>
      <p:sp>
        <p:nvSpPr>
          <p:cNvPr id="47" name="Text 44"/>
          <p:cNvSpPr/>
          <p:nvPr/>
        </p:nvSpPr>
        <p:spPr>
          <a:xfrm>
            <a:off x="4545211" y="3727252"/>
            <a:ext cx="830461" cy="32861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5.4.0</a:t>
            </a:r>
            <a:endParaRPr lang="en-US" sz="834" dirty="0"/>
          </a:p>
        </p:txBody>
      </p:sp>
      <p:sp>
        <p:nvSpPr>
          <p:cNvPr id="48" name="Text 45"/>
          <p:cNvSpPr/>
          <p:nvPr/>
        </p:nvSpPr>
        <p:spPr>
          <a:xfrm>
            <a:off x="5375672" y="3727252"/>
            <a:ext cx="3321844" cy="32861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Асинхронные фоновые задачи</a:t>
            </a:r>
            <a:endParaRPr lang="en-US" sz="834" dirty="0"/>
          </a:p>
        </p:txBody>
      </p:sp>
      <p:sp>
        <p:nvSpPr>
          <p:cNvPr id="49" name="Text 46"/>
          <p:cNvSpPr/>
          <p:nvPr/>
        </p:nvSpPr>
        <p:spPr>
          <a:xfrm>
            <a:off x="3161109" y="4055864"/>
            <a:ext cx="1384102" cy="32861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JWT</a:t>
            </a:r>
            <a:endParaRPr lang="en-US" sz="784" dirty="0"/>
          </a:p>
        </p:txBody>
      </p:sp>
      <p:sp>
        <p:nvSpPr>
          <p:cNvPr id="50" name="Text 47"/>
          <p:cNvSpPr/>
          <p:nvPr/>
        </p:nvSpPr>
        <p:spPr>
          <a:xfrm>
            <a:off x="4545211" y="4055864"/>
            <a:ext cx="830461" cy="32861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—</a:t>
            </a:r>
            <a:endParaRPr lang="en-US" sz="834" dirty="0"/>
          </a:p>
        </p:txBody>
      </p:sp>
      <p:sp>
        <p:nvSpPr>
          <p:cNvPr id="51" name="Text 48"/>
          <p:cNvSpPr/>
          <p:nvPr/>
        </p:nvSpPr>
        <p:spPr>
          <a:xfrm>
            <a:off x="5375672" y="4055864"/>
            <a:ext cx="3321844" cy="32861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Авторизация и аутентификация</a:t>
            </a:r>
            <a:endParaRPr lang="en-US" sz="834" dirty="0"/>
          </a:p>
        </p:txBody>
      </p:sp>
      <p:sp>
        <p:nvSpPr>
          <p:cNvPr id="52" name="Text 49"/>
          <p:cNvSpPr/>
          <p:nvPr/>
        </p:nvSpPr>
        <p:spPr>
          <a:xfrm>
            <a:off x="3161109" y="4384477"/>
            <a:ext cx="1384102" cy="32861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pytest</a:t>
            </a:r>
            <a:endParaRPr lang="en-US" sz="784" dirty="0"/>
          </a:p>
        </p:txBody>
      </p:sp>
      <p:sp>
        <p:nvSpPr>
          <p:cNvPr id="53" name="Text 50"/>
          <p:cNvSpPr/>
          <p:nvPr/>
        </p:nvSpPr>
        <p:spPr>
          <a:xfrm>
            <a:off x="4545211" y="4384477"/>
            <a:ext cx="830461" cy="32861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—</a:t>
            </a:r>
            <a:endParaRPr lang="en-US" sz="834" dirty="0"/>
          </a:p>
        </p:txBody>
      </p:sp>
      <p:sp>
        <p:nvSpPr>
          <p:cNvPr id="54" name="Text 51"/>
          <p:cNvSpPr/>
          <p:nvPr/>
        </p:nvSpPr>
        <p:spPr>
          <a:xfrm>
            <a:off x="5375672" y="4384477"/>
            <a:ext cx="3321844" cy="32861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Автоматическое тестирование</a:t>
            </a:r>
            <a:endParaRPr lang="en-US" sz="83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71616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1130498"/>
            <a:ext cx="8286750" cy="14288"/>
          </a:xfrm>
          <a:prstGeom prst="rect">
            <a:avLst/>
          </a:prstGeom>
          <a:solidFill>
            <a:srgbClr val="4EC9B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2867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Конфигурация и настройки приложения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28625" y="800100"/>
            <a:ext cx="828675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Гибкая конфигурация через переменные окружения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28625" y="1416248"/>
            <a:ext cx="5000625" cy="2762985"/>
          </a:xfrm>
          <a:prstGeom prst="rect">
            <a:avLst/>
          </a:prstGeom>
          <a:solidFill>
            <a:srgbClr val="0F0F0F">
              <a:alpha val="95000"/>
            </a:srgbClr>
          </a:solidFill>
          <a:ln w="18288">
            <a:solidFill>
              <a:srgbClr val="4EC9B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28625" y="1416248"/>
            <a:ext cx="789384" cy="130373"/>
          </a:xfrm>
          <a:prstGeom prst="rect">
            <a:avLst/>
          </a:prstGeom>
          <a:solidFill>
            <a:srgbClr val="4EC9B0"/>
          </a:solidFill>
          <a:ln/>
        </p:spPr>
      </p:sp>
      <p:sp>
        <p:nvSpPr>
          <p:cNvPr id="9" name="Text 6"/>
          <p:cNvSpPr/>
          <p:nvPr/>
        </p:nvSpPr>
        <p:spPr>
          <a:xfrm>
            <a:off x="428625" y="1416248"/>
            <a:ext cx="789384" cy="130373"/>
          </a:xfrm>
          <a:prstGeom prst="rect">
            <a:avLst/>
          </a:prstGeom>
          <a:noFill/>
          <a:ln/>
        </p:spPr>
        <p:txBody>
          <a:bodyPr wrap="none" lIns="127508" tIns="42545" rIns="127508" bIns="42545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1E1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src/config.py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571500" y="1630561"/>
            <a:ext cx="4714875" cy="2377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class</a:t>
            </a: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834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Settings</a:t>
            </a: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</a:t>
            </a:r>
            <a:r>
              <a:rPr lang="en-US" sz="834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BaseSettings</a:t>
            </a: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):
</a:t>
            </a: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   MODE: </a:t>
            </a:r>
            <a:r>
              <a:rPr lang="en-US" sz="834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Literal</a:t>
            </a: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[</a:t>
            </a: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"TEST"</a:t>
            </a: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,</a:t>
            </a: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"LOCAL"</a:t>
            </a: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,</a:t>
            </a: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"DEV"</a:t>
            </a: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,</a:t>
            </a: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"PROD"</a:t>
            </a: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]
</a:t>
            </a: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   DB_HOST: </a:t>
            </a:r>
            <a:r>
              <a:rPr lang="en-US" sz="834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str</a:t>
            </a: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DB_PORT: </a:t>
            </a:r>
            <a:r>
              <a:rPr lang="en-US" sz="834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int</a:t>
            </a: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DB_USER: </a:t>
            </a:r>
            <a:r>
              <a:rPr lang="en-US" sz="834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str</a:t>
            </a: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DB_PASS: </a:t>
            </a:r>
            <a:r>
              <a:rPr lang="en-US" sz="834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str</a:t>
            </a: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DB_NAME: </a:t>
            </a:r>
            <a:r>
              <a:rPr lang="en-US" sz="834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str</a:t>
            </a: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REDIS_HOST: </a:t>
            </a:r>
            <a:r>
              <a:rPr lang="en-US" sz="834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str</a:t>
            </a: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REDIS_PORT: </a:t>
            </a:r>
            <a:r>
              <a:rPr lang="en-US" sz="834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int</a:t>
            </a: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REDIS_DB: </a:t>
            </a:r>
            <a:r>
              <a:rPr lang="en-US" sz="834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int</a:t>
            </a: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= </a:t>
            </a: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</a:t>
            </a: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JWT_SECRET_KEY: </a:t>
            </a:r>
            <a:r>
              <a:rPr lang="en-US" sz="834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str</a:t>
            </a: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JWT_ALGORITHM: </a:t>
            </a:r>
            <a:r>
              <a:rPr lang="en-US" sz="834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str</a:t>
            </a: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ACCESS_TOKEN_EXPIRE_MINUTES: </a:t>
            </a:r>
            <a:r>
              <a:rPr lang="en-US" sz="834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int</a:t>
            </a:r>
            <a:endParaRPr lang="en-US" sz="784" dirty="0"/>
          </a:p>
        </p:txBody>
      </p:sp>
      <p:sp>
        <p:nvSpPr>
          <p:cNvPr id="11" name="Shape 8"/>
          <p:cNvSpPr/>
          <p:nvPr/>
        </p:nvSpPr>
        <p:spPr>
          <a:xfrm>
            <a:off x="5715000" y="1416248"/>
            <a:ext cx="3000375" cy="1600116"/>
          </a:xfrm>
          <a:prstGeom prst="rect">
            <a:avLst/>
          </a:prstGeom>
          <a:solidFill>
            <a:srgbClr val="1E1E1E">
              <a:alpha val="90000"/>
            </a:srgbClr>
          </a:solidFill>
          <a:ln w="18288">
            <a:solidFill>
              <a:srgbClr val="A4A4A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57875" y="1330523"/>
            <a:ext cx="425053" cy="130373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3" name="Text 10"/>
          <p:cNvSpPr/>
          <p:nvPr/>
        </p:nvSpPr>
        <p:spPr>
          <a:xfrm>
            <a:off x="5857875" y="1330523"/>
            <a:ext cx="425053" cy="130373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LIBRARY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5893594" y="1594842"/>
            <a:ext cx="2643188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pydantic-settings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5893594" y="1905595"/>
            <a:ext cx="21717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Приложение использует библиотеку</a:t>
            </a:r>
            <a:endParaRPr lang="en-US" sz="834" dirty="0"/>
          </a:p>
        </p:txBody>
      </p:sp>
      <p:sp>
        <p:nvSpPr>
          <p:cNvPr id="16" name="Text 13"/>
          <p:cNvSpPr/>
          <p:nvPr/>
        </p:nvSpPr>
        <p:spPr>
          <a:xfrm>
            <a:off x="5893594" y="2084887"/>
            <a:ext cx="116588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4A4A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pydantic-settings</a:t>
            </a:r>
            <a:endParaRPr lang="en-US" sz="834" dirty="0"/>
          </a:p>
        </p:txBody>
      </p:sp>
      <p:sp>
        <p:nvSpPr>
          <p:cNvPr id="17" name="Text 14"/>
          <p:cNvSpPr/>
          <p:nvPr/>
        </p:nvSpPr>
        <p:spPr>
          <a:xfrm>
            <a:off x="7059476" y="2093816"/>
            <a:ext cx="101798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для управления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5893594" y="2276680"/>
            <a:ext cx="210383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конфигурацией. Это обеспечивает</a:t>
            </a:r>
            <a:endParaRPr lang="en-US" sz="834" dirty="0"/>
          </a:p>
        </p:txBody>
      </p:sp>
      <p:sp>
        <p:nvSpPr>
          <p:cNvPr id="19" name="Text 16"/>
          <p:cNvSpPr/>
          <p:nvPr/>
        </p:nvSpPr>
        <p:spPr>
          <a:xfrm>
            <a:off x="5893594" y="2459543"/>
            <a:ext cx="196810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строгую типизацию и валидацию</a:t>
            </a:r>
            <a:endParaRPr lang="en-US" sz="834" dirty="0"/>
          </a:p>
        </p:txBody>
      </p:sp>
      <p:sp>
        <p:nvSpPr>
          <p:cNvPr id="20" name="Text 17"/>
          <p:cNvSpPr/>
          <p:nvPr/>
        </p:nvSpPr>
        <p:spPr>
          <a:xfrm>
            <a:off x="5893594" y="2642406"/>
            <a:ext cx="223956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переменных окружения при запуске.</a:t>
            </a:r>
            <a:endParaRPr lang="en-US" sz="834" dirty="0"/>
          </a:p>
        </p:txBody>
      </p:sp>
      <p:sp>
        <p:nvSpPr>
          <p:cNvPr id="21" name="Shape 18"/>
          <p:cNvSpPr/>
          <p:nvPr/>
        </p:nvSpPr>
        <p:spPr>
          <a:xfrm>
            <a:off x="5715000" y="3130665"/>
            <a:ext cx="3000375" cy="1745866"/>
          </a:xfrm>
          <a:prstGeom prst="rect">
            <a:avLst/>
          </a:prstGeom>
          <a:solidFill>
            <a:srgbClr val="1E1E1E">
              <a:alpha val="90000"/>
            </a:srgbClr>
          </a:solidFill>
          <a:ln w="18288">
            <a:solidFill>
              <a:srgbClr val="A4A4A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857875" y="3044940"/>
            <a:ext cx="546497" cy="130373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3" name="Text 20"/>
          <p:cNvSpPr/>
          <p:nvPr/>
        </p:nvSpPr>
        <p:spPr>
          <a:xfrm>
            <a:off x="5857875" y="3044940"/>
            <a:ext cx="546497" cy="130373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ENV_MODES</a:t>
            </a:r>
            <a:endParaRPr lang="en-US" sz="683" dirty="0"/>
          </a:p>
        </p:txBody>
      </p:sp>
      <p:sp>
        <p:nvSpPr>
          <p:cNvPr id="24" name="Text 21"/>
          <p:cNvSpPr/>
          <p:nvPr/>
        </p:nvSpPr>
        <p:spPr>
          <a:xfrm>
            <a:off x="5893594" y="3309258"/>
            <a:ext cx="2643188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Режимы работы</a:t>
            </a:r>
            <a:endParaRPr lang="en-US" sz="987" dirty="0"/>
          </a:p>
        </p:txBody>
      </p:sp>
      <p:sp>
        <p:nvSpPr>
          <p:cNvPr id="25" name="Text 22"/>
          <p:cNvSpPr/>
          <p:nvPr/>
        </p:nvSpPr>
        <p:spPr>
          <a:xfrm>
            <a:off x="5893594" y="3620012"/>
            <a:ext cx="21717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Поддержка нескольких окружений с</a:t>
            </a:r>
            <a:endParaRPr lang="en-US" sz="834" dirty="0"/>
          </a:p>
        </p:txBody>
      </p:sp>
      <p:sp>
        <p:nvSpPr>
          <p:cNvPr id="26" name="Text 23"/>
          <p:cNvSpPr/>
          <p:nvPr/>
        </p:nvSpPr>
        <p:spPr>
          <a:xfrm>
            <a:off x="5893594" y="3808233"/>
            <a:ext cx="210383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автоматическим выбором нужного</a:t>
            </a:r>
            <a:endParaRPr lang="en-US" sz="834" dirty="0"/>
          </a:p>
        </p:txBody>
      </p:sp>
      <p:sp>
        <p:nvSpPr>
          <p:cNvPr id="27" name="Text 24"/>
          <p:cNvSpPr/>
          <p:nvPr/>
        </p:nvSpPr>
        <p:spPr>
          <a:xfrm>
            <a:off x="7997428" y="3799303"/>
            <a:ext cx="27433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4A4A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.env</a:t>
            </a:r>
            <a:endParaRPr lang="en-US" sz="834" dirty="0"/>
          </a:p>
        </p:txBody>
      </p:sp>
      <p:sp>
        <p:nvSpPr>
          <p:cNvPr id="28" name="Text 25"/>
          <p:cNvSpPr/>
          <p:nvPr/>
        </p:nvSpPr>
        <p:spPr>
          <a:xfrm>
            <a:off x="5893594" y="3996454"/>
            <a:ext cx="115371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файла (например,</a:t>
            </a:r>
            <a:endParaRPr lang="en-US" sz="834" dirty="0"/>
          </a:p>
        </p:txBody>
      </p:sp>
      <p:sp>
        <p:nvSpPr>
          <p:cNvPr id="29" name="Text 26"/>
          <p:cNvSpPr/>
          <p:nvPr/>
        </p:nvSpPr>
        <p:spPr>
          <a:xfrm>
            <a:off x="7047309" y="3987524"/>
            <a:ext cx="61723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4A4A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.env-test</a:t>
            </a:r>
            <a:endParaRPr lang="en-US" sz="834" dirty="0"/>
          </a:p>
        </p:txBody>
      </p:sp>
      <p:sp>
        <p:nvSpPr>
          <p:cNvPr id="30" name="Text 27"/>
          <p:cNvSpPr/>
          <p:nvPr/>
        </p:nvSpPr>
        <p:spPr>
          <a:xfrm>
            <a:off x="7664546" y="3996454"/>
            <a:ext cx="8143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для прогона</a:t>
            </a:r>
            <a:endParaRPr lang="en-US" sz="834" dirty="0"/>
          </a:p>
        </p:txBody>
      </p:sp>
      <p:sp>
        <p:nvSpPr>
          <p:cNvPr id="31" name="Text 28"/>
          <p:cNvSpPr/>
          <p:nvPr/>
        </p:nvSpPr>
        <p:spPr>
          <a:xfrm>
            <a:off x="5893594" y="4179317"/>
            <a:ext cx="54292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тестов).</a:t>
            </a:r>
            <a:endParaRPr lang="en-US" sz="834" dirty="0"/>
          </a:p>
        </p:txBody>
      </p:sp>
      <p:sp>
        <p:nvSpPr>
          <p:cNvPr id="32" name="Shape 29"/>
          <p:cNvSpPr/>
          <p:nvPr/>
        </p:nvSpPr>
        <p:spPr>
          <a:xfrm>
            <a:off x="5893594" y="4453263"/>
            <a:ext cx="400050" cy="216098"/>
          </a:xfrm>
          <a:prstGeom prst="rect">
            <a:avLst/>
          </a:prstGeom>
          <a:solidFill>
            <a:srgbClr val="4EC9B0"/>
          </a:solidFill>
          <a:ln w="9144">
            <a:solidFill>
              <a:srgbClr val="4EC9B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893594" y="4453263"/>
            <a:ext cx="400050" cy="216098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1E1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TEST</a:t>
            </a:r>
            <a:endParaRPr lang="en-US" sz="683" dirty="0"/>
          </a:p>
        </p:txBody>
      </p:sp>
      <p:sp>
        <p:nvSpPr>
          <p:cNvPr id="34" name="Text 31"/>
          <p:cNvSpPr/>
          <p:nvPr/>
        </p:nvSpPr>
        <p:spPr>
          <a:xfrm>
            <a:off x="6350794" y="4453263"/>
            <a:ext cx="460772" cy="216098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LOCAL</a:t>
            </a:r>
            <a:endParaRPr lang="en-US" sz="683" dirty="0"/>
          </a:p>
        </p:txBody>
      </p:sp>
      <p:sp>
        <p:nvSpPr>
          <p:cNvPr id="35" name="Text 32"/>
          <p:cNvSpPr/>
          <p:nvPr/>
        </p:nvSpPr>
        <p:spPr>
          <a:xfrm>
            <a:off x="6883003" y="4453263"/>
            <a:ext cx="339328" cy="216098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DEV</a:t>
            </a:r>
            <a:endParaRPr lang="en-US" sz="683" dirty="0"/>
          </a:p>
        </p:txBody>
      </p:sp>
      <p:sp>
        <p:nvSpPr>
          <p:cNvPr id="36" name="Text 33"/>
          <p:cNvSpPr/>
          <p:nvPr/>
        </p:nvSpPr>
        <p:spPr>
          <a:xfrm>
            <a:off x="7293769" y="4453263"/>
            <a:ext cx="400050" cy="216098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PROD</a:t>
            </a:r>
            <a:endParaRPr lang="en-US" sz="68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71616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1130498"/>
            <a:ext cx="8286750" cy="14288"/>
          </a:xfrm>
          <a:prstGeom prst="rect">
            <a:avLst/>
          </a:prstGeom>
          <a:solidFill>
            <a:srgbClr val="4EC9B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2867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Слой данных — ORM-модели и схемы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28625" y="800100"/>
            <a:ext cx="828675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Типобезопасная работа с данными через SQLAlchemy + Pydantic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28625" y="1416248"/>
            <a:ext cx="4000500" cy="2085975"/>
          </a:xfrm>
          <a:prstGeom prst="rect">
            <a:avLst/>
          </a:prstGeom>
          <a:solidFill>
            <a:srgbClr val="1E1E1E">
              <a:alpha val="90000"/>
            </a:srgbClr>
          </a:solidFill>
          <a:ln w="18288">
            <a:solidFill>
              <a:srgbClr val="4EC9B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1500" y="1330523"/>
            <a:ext cx="850106" cy="130373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9" name="Text 6"/>
          <p:cNvSpPr/>
          <p:nvPr/>
        </p:nvSpPr>
        <p:spPr>
          <a:xfrm>
            <a:off x="571500" y="1330523"/>
            <a:ext cx="850106" cy="130373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SQLALCHEMY_ORM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642938" y="1630561"/>
            <a:ext cx="100012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HotelsOrm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1714500" y="1630561"/>
            <a:ext cx="169664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отели (название, локация)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642938" y="1887736"/>
            <a:ext cx="100012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RoomsOrm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1714500" y="1887736"/>
            <a:ext cx="237529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номера (цена, количество, удобства)</a:t>
            </a:r>
            <a:endParaRPr lang="en-US" sz="834" dirty="0"/>
          </a:p>
        </p:txBody>
      </p:sp>
      <p:sp>
        <p:nvSpPr>
          <p:cNvPr id="14" name="Text 11"/>
          <p:cNvSpPr/>
          <p:nvPr/>
        </p:nvSpPr>
        <p:spPr>
          <a:xfrm>
            <a:off x="642938" y="2144911"/>
            <a:ext cx="100012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UsersOrm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1714500" y="2144911"/>
            <a:ext cx="21717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пользователи (email, хэш пароля)</a:t>
            </a:r>
            <a:endParaRPr lang="en-US" sz="834" dirty="0"/>
          </a:p>
        </p:txBody>
      </p:sp>
      <p:sp>
        <p:nvSpPr>
          <p:cNvPr id="16" name="Text 13"/>
          <p:cNvSpPr/>
          <p:nvPr/>
        </p:nvSpPr>
        <p:spPr>
          <a:xfrm>
            <a:off x="642938" y="2402086"/>
            <a:ext cx="100012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BookingsOrm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1714500" y="2402086"/>
            <a:ext cx="169664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бронирования (даты, цена)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642938" y="2659261"/>
            <a:ext cx="100012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FacilitiesOrm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1714500" y="2659261"/>
            <a:ext cx="10858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удобства номеров</a:t>
            </a:r>
            <a:endParaRPr lang="en-US" sz="834" dirty="0"/>
          </a:p>
        </p:txBody>
      </p:sp>
      <p:sp>
        <p:nvSpPr>
          <p:cNvPr id="20" name="Shape 17"/>
          <p:cNvSpPr/>
          <p:nvPr/>
        </p:nvSpPr>
        <p:spPr>
          <a:xfrm>
            <a:off x="4714875" y="1416248"/>
            <a:ext cx="4000500" cy="2085975"/>
          </a:xfrm>
          <a:prstGeom prst="rect">
            <a:avLst/>
          </a:prstGeom>
          <a:solidFill>
            <a:srgbClr val="1E1E1E">
              <a:alpha val="90000"/>
            </a:srgbClr>
          </a:solidFill>
          <a:ln w="18288">
            <a:solidFill>
              <a:srgbClr val="FFD70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857750" y="1330523"/>
            <a:ext cx="971550" cy="130373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2" name="Text 19"/>
          <p:cNvSpPr/>
          <p:nvPr/>
        </p:nvSpPr>
        <p:spPr>
          <a:xfrm>
            <a:off x="4857750" y="1330523"/>
            <a:ext cx="971550" cy="130373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PYDANTIC_SCHEMAS</a:t>
            </a:r>
            <a:endParaRPr lang="en-US" sz="683" dirty="0"/>
          </a:p>
        </p:txBody>
      </p:sp>
      <p:sp>
        <p:nvSpPr>
          <p:cNvPr id="23" name="Text 20"/>
          <p:cNvSpPr/>
          <p:nvPr/>
        </p:nvSpPr>
        <p:spPr>
          <a:xfrm>
            <a:off x="4929188" y="1630561"/>
            <a:ext cx="3571875" cy="457200"/>
          </a:xfrm>
          <a:prstGeom prst="rect">
            <a:avLst/>
          </a:prstGeom>
          <a:noFill/>
          <a:ln/>
        </p:spPr>
        <p:txBody>
          <a:bodyPr wrap="square" lIns="0" tIns="0" rIns="0" bIns="127508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Обеспечивают строгую валидацию входных данных API и сериализацию ответов:</a:t>
            </a:r>
            <a:endParaRPr lang="en-US" sz="834" dirty="0"/>
          </a:p>
        </p:txBody>
      </p:sp>
      <p:sp>
        <p:nvSpPr>
          <p:cNvPr id="24" name="Text 21"/>
          <p:cNvSpPr/>
          <p:nvPr/>
        </p:nvSpPr>
        <p:spPr>
          <a:xfrm>
            <a:off x="4929188" y="2230636"/>
            <a:ext cx="12858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RoomAddRequest</a:t>
            </a:r>
            <a:endParaRPr lang="en-US" sz="784" dirty="0"/>
          </a:p>
        </p:txBody>
      </p:sp>
      <p:sp>
        <p:nvSpPr>
          <p:cNvPr id="25" name="Text 22"/>
          <p:cNvSpPr/>
          <p:nvPr/>
        </p:nvSpPr>
        <p:spPr>
          <a:xfrm>
            <a:off x="6286500" y="2230636"/>
            <a:ext cx="196810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Входные данные для добавления</a:t>
            </a:r>
            <a:endParaRPr lang="en-US" sz="834" dirty="0"/>
          </a:p>
        </p:txBody>
      </p:sp>
      <p:sp>
        <p:nvSpPr>
          <p:cNvPr id="26" name="Text 23"/>
          <p:cNvSpPr/>
          <p:nvPr/>
        </p:nvSpPr>
        <p:spPr>
          <a:xfrm>
            <a:off x="4929188" y="2487811"/>
            <a:ext cx="12858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RoomAdd / Room</a:t>
            </a:r>
            <a:endParaRPr lang="en-US" sz="784" dirty="0"/>
          </a:p>
        </p:txBody>
      </p:sp>
      <p:sp>
        <p:nvSpPr>
          <p:cNvPr id="27" name="Text 24"/>
          <p:cNvSpPr/>
          <p:nvPr/>
        </p:nvSpPr>
        <p:spPr>
          <a:xfrm>
            <a:off x="6286500" y="2487811"/>
            <a:ext cx="13573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Базовые схемы номера</a:t>
            </a:r>
            <a:endParaRPr lang="en-US" sz="834" dirty="0"/>
          </a:p>
        </p:txBody>
      </p:sp>
      <p:sp>
        <p:nvSpPr>
          <p:cNvPr id="28" name="Text 25"/>
          <p:cNvSpPr/>
          <p:nvPr/>
        </p:nvSpPr>
        <p:spPr>
          <a:xfrm>
            <a:off x="4929188" y="2744986"/>
            <a:ext cx="12858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RoomWithRels</a:t>
            </a:r>
            <a:endParaRPr lang="en-US" sz="784" dirty="0"/>
          </a:p>
        </p:txBody>
      </p:sp>
      <p:sp>
        <p:nvSpPr>
          <p:cNvPr id="29" name="Text 26"/>
          <p:cNvSpPr/>
          <p:nvPr/>
        </p:nvSpPr>
        <p:spPr>
          <a:xfrm>
            <a:off x="6286500" y="2744986"/>
            <a:ext cx="183237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Номер со связями (удобства)</a:t>
            </a:r>
            <a:endParaRPr lang="en-US" sz="834" dirty="0"/>
          </a:p>
        </p:txBody>
      </p:sp>
      <p:sp>
        <p:nvSpPr>
          <p:cNvPr id="30" name="Text 27"/>
          <p:cNvSpPr/>
          <p:nvPr/>
        </p:nvSpPr>
        <p:spPr>
          <a:xfrm>
            <a:off x="4929188" y="3002161"/>
            <a:ext cx="12858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RoomPatchRequest</a:t>
            </a:r>
            <a:endParaRPr lang="en-US" sz="784" dirty="0"/>
          </a:p>
        </p:txBody>
      </p:sp>
      <p:sp>
        <p:nvSpPr>
          <p:cNvPr id="31" name="Text 28"/>
          <p:cNvSpPr/>
          <p:nvPr/>
        </p:nvSpPr>
        <p:spPr>
          <a:xfrm>
            <a:off x="6286500" y="3002161"/>
            <a:ext cx="21717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Данные для частичного обновления</a:t>
            </a:r>
            <a:endParaRPr lang="en-US" sz="834" dirty="0"/>
          </a:p>
        </p:txBody>
      </p:sp>
      <p:sp>
        <p:nvSpPr>
          <p:cNvPr id="32" name="Shape 29"/>
          <p:cNvSpPr/>
          <p:nvPr/>
        </p:nvSpPr>
        <p:spPr>
          <a:xfrm>
            <a:off x="428625" y="3687961"/>
            <a:ext cx="8286750" cy="700088"/>
          </a:xfrm>
          <a:prstGeom prst="rect">
            <a:avLst/>
          </a:prstGeom>
          <a:solidFill>
            <a:srgbClr val="1E1E1E">
              <a:alpha val="90000"/>
            </a:srgbClr>
          </a:solidFill>
          <a:ln w="18288">
            <a:solidFill>
              <a:srgbClr val="A4A4A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71500" y="3602236"/>
            <a:ext cx="1214438" cy="130373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4" name="Text 31"/>
          <p:cNvSpPr/>
          <p:nvPr/>
        </p:nvSpPr>
        <p:spPr>
          <a:xfrm>
            <a:off x="571500" y="3602236"/>
            <a:ext cx="1214438" cy="130373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ARCHITECTURE_PATTERN</a:t>
            </a:r>
            <a:endParaRPr lang="en-US" sz="683" dirty="0"/>
          </a:p>
        </p:txBody>
      </p:sp>
      <p:sp>
        <p:nvSpPr>
          <p:cNvPr id="35" name="Text 32"/>
          <p:cNvSpPr/>
          <p:nvPr/>
        </p:nvSpPr>
        <p:spPr>
          <a:xfrm>
            <a:off x="642938" y="3830836"/>
            <a:ext cx="78581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Паттерн DataMapper</a:t>
            </a:r>
            <a:r>
              <a:rPr lang="en-US" sz="942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строго разделяет ORM-модели (инфраструктура БД) от доменных сущностей (Pydantic-</a:t>
            </a:r>
            <a:r>
              <a:rPr lang="en-US" sz="942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схемы), обеспечивая независимость бизнес-логики от способа хранения данных.</a:t>
            </a:r>
            <a:endParaRPr lang="en-US" sz="94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71616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1130498"/>
            <a:ext cx="8286750" cy="14288"/>
          </a:xfrm>
          <a:prstGeom prst="rect">
            <a:avLst/>
          </a:prstGeom>
          <a:solidFill>
            <a:srgbClr val="4EC9B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2867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Паттерн Repository — абстракция над БД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28625" y="800100"/>
            <a:ext cx="828675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BaseRepository обеспечивает единый интерфейс работы с базой данных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28625" y="1416248"/>
            <a:ext cx="8286750" cy="2978944"/>
          </a:xfrm>
          <a:prstGeom prst="rect">
            <a:avLst/>
          </a:prstGeom>
          <a:solidFill>
            <a:srgbClr val="1E1E1E">
              <a:alpha val="90000"/>
            </a:srgbClr>
          </a:solidFill>
          <a:ln w="18288">
            <a:solidFill>
              <a:srgbClr val="4EC9B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32197" y="1419820"/>
            <a:ext cx="3311826" cy="328613"/>
          </a:xfrm>
          <a:prstGeom prst="rect">
            <a:avLst/>
          </a:prstGeom>
          <a:solidFill>
            <a:srgbClr val="4EC9B0">
              <a:alpha val="10000"/>
            </a:srgbClr>
          </a:solidFill>
          <a:ln w="9144">
            <a:solidFill>
              <a:srgbClr val="4EC9B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2197" y="1419820"/>
            <a:ext cx="3311826" cy="328613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МЕТОД BASEREPOSITORY</a:t>
            </a:r>
            <a:endParaRPr lang="en-US" sz="784" dirty="0"/>
          </a:p>
        </p:txBody>
      </p:sp>
      <p:sp>
        <p:nvSpPr>
          <p:cNvPr id="10" name="Shape 7"/>
          <p:cNvSpPr/>
          <p:nvPr/>
        </p:nvSpPr>
        <p:spPr>
          <a:xfrm>
            <a:off x="3744023" y="1419820"/>
            <a:ext cx="4967780" cy="328613"/>
          </a:xfrm>
          <a:prstGeom prst="rect">
            <a:avLst/>
          </a:prstGeom>
          <a:solidFill>
            <a:srgbClr val="4EC9B0">
              <a:alpha val="10000"/>
            </a:srgbClr>
          </a:solidFill>
          <a:ln w="9144">
            <a:solidFill>
              <a:srgbClr val="4EC9B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44023" y="1419820"/>
            <a:ext cx="4967780" cy="328613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ОПИСАНИЕ ОПЕРАЦИИ (CRUD)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432197" y="1741289"/>
            <a:ext cx="3311826" cy="328613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get_all()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3744023" y="1741289"/>
            <a:ext cx="4967780" cy="328613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Получить все записи из таблицы</a:t>
            </a:r>
            <a:endParaRPr lang="en-US" sz="834" dirty="0"/>
          </a:p>
        </p:txBody>
      </p:sp>
      <p:sp>
        <p:nvSpPr>
          <p:cNvPr id="14" name="Text 11"/>
          <p:cNvSpPr/>
          <p:nvPr/>
        </p:nvSpPr>
        <p:spPr>
          <a:xfrm>
            <a:off x="432197" y="2069902"/>
            <a:ext cx="3311826" cy="328613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get_filtered(*filter)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3744023" y="2069902"/>
            <a:ext cx="4967780" cy="328613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Получить список записей с фильтрацией</a:t>
            </a:r>
            <a:endParaRPr lang="en-US" sz="834" dirty="0"/>
          </a:p>
        </p:txBody>
      </p:sp>
      <p:sp>
        <p:nvSpPr>
          <p:cNvPr id="16" name="Text 13"/>
          <p:cNvSpPr/>
          <p:nvPr/>
        </p:nvSpPr>
        <p:spPr>
          <a:xfrm>
            <a:off x="432197" y="2398514"/>
            <a:ext cx="3311826" cy="328613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get_one_or_none(**filter_by)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3744023" y="2398514"/>
            <a:ext cx="4967780" cy="328613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Получить одну запись или None, если не найдено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432197" y="2727127"/>
            <a:ext cx="3311826" cy="328613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get_one(**filter_by)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3744023" y="2727127"/>
            <a:ext cx="4967780" cy="328613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Получить одну запись или выбросить исключение</a:t>
            </a:r>
            <a:endParaRPr lang="en-US" sz="834" dirty="0"/>
          </a:p>
        </p:txBody>
      </p:sp>
      <p:sp>
        <p:nvSpPr>
          <p:cNvPr id="20" name="Text 17"/>
          <p:cNvSpPr/>
          <p:nvPr/>
        </p:nvSpPr>
        <p:spPr>
          <a:xfrm>
            <a:off x="432197" y="3055739"/>
            <a:ext cx="3311826" cy="328613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add(data)</a:t>
            </a:r>
            <a:endParaRPr lang="en-US" sz="784" dirty="0"/>
          </a:p>
        </p:txBody>
      </p:sp>
      <p:sp>
        <p:nvSpPr>
          <p:cNvPr id="21" name="Text 18"/>
          <p:cNvSpPr/>
          <p:nvPr/>
        </p:nvSpPr>
        <p:spPr>
          <a:xfrm>
            <a:off x="3744023" y="3055739"/>
            <a:ext cx="4967780" cy="328613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Добавить новую запись в базу данных</a:t>
            </a:r>
            <a:endParaRPr lang="en-US" sz="834" dirty="0"/>
          </a:p>
        </p:txBody>
      </p:sp>
      <p:sp>
        <p:nvSpPr>
          <p:cNvPr id="22" name="Text 19"/>
          <p:cNvSpPr/>
          <p:nvPr/>
        </p:nvSpPr>
        <p:spPr>
          <a:xfrm>
            <a:off x="432197" y="3384352"/>
            <a:ext cx="3311826" cy="328613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add_bulk(data)</a:t>
            </a:r>
            <a:endParaRPr lang="en-US" sz="784" dirty="0"/>
          </a:p>
        </p:txBody>
      </p:sp>
      <p:sp>
        <p:nvSpPr>
          <p:cNvPr id="23" name="Text 20"/>
          <p:cNvSpPr/>
          <p:nvPr/>
        </p:nvSpPr>
        <p:spPr>
          <a:xfrm>
            <a:off x="3744023" y="3384352"/>
            <a:ext cx="4967780" cy="328613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Массовое добавление списка записей</a:t>
            </a:r>
            <a:endParaRPr lang="en-US" sz="834" dirty="0"/>
          </a:p>
        </p:txBody>
      </p:sp>
      <p:sp>
        <p:nvSpPr>
          <p:cNvPr id="24" name="Text 21"/>
          <p:cNvSpPr/>
          <p:nvPr/>
        </p:nvSpPr>
        <p:spPr>
          <a:xfrm>
            <a:off x="432197" y="3712964"/>
            <a:ext cx="3311826" cy="328613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edit(data, **filter_by)</a:t>
            </a:r>
            <a:endParaRPr lang="en-US" sz="784" dirty="0"/>
          </a:p>
        </p:txBody>
      </p:sp>
      <p:sp>
        <p:nvSpPr>
          <p:cNvPr id="25" name="Text 22"/>
          <p:cNvSpPr/>
          <p:nvPr/>
        </p:nvSpPr>
        <p:spPr>
          <a:xfrm>
            <a:off x="3744023" y="3712964"/>
            <a:ext cx="4967780" cy="328613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Обновить существующую запись по фильтру</a:t>
            </a:r>
            <a:endParaRPr lang="en-US" sz="834" dirty="0"/>
          </a:p>
        </p:txBody>
      </p:sp>
      <p:sp>
        <p:nvSpPr>
          <p:cNvPr id="26" name="Text 23"/>
          <p:cNvSpPr/>
          <p:nvPr/>
        </p:nvSpPr>
        <p:spPr>
          <a:xfrm>
            <a:off x="432197" y="4041577"/>
            <a:ext cx="3311826" cy="328613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delete(**filter_by)</a:t>
            </a:r>
            <a:endParaRPr lang="en-US" sz="784" dirty="0"/>
          </a:p>
        </p:txBody>
      </p:sp>
      <p:sp>
        <p:nvSpPr>
          <p:cNvPr id="27" name="Text 24"/>
          <p:cNvSpPr/>
          <p:nvPr/>
        </p:nvSpPr>
        <p:spPr>
          <a:xfrm>
            <a:off x="3744023" y="4041577"/>
            <a:ext cx="4967780" cy="328613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Удалить запись из базы данных</a:t>
            </a:r>
            <a:endParaRPr lang="en-US" sz="834" dirty="0"/>
          </a:p>
        </p:txBody>
      </p:sp>
      <p:sp>
        <p:nvSpPr>
          <p:cNvPr id="28" name="Shape 25"/>
          <p:cNvSpPr/>
          <p:nvPr/>
        </p:nvSpPr>
        <p:spPr>
          <a:xfrm>
            <a:off x="428625" y="4445198"/>
            <a:ext cx="8286750" cy="642938"/>
          </a:xfrm>
          <a:prstGeom prst="rect">
            <a:avLst/>
          </a:prstGeom>
          <a:solidFill>
            <a:srgbClr val="FFD700">
              <a:alpha val="5000"/>
            </a:srgbClr>
          </a:solidFill>
          <a:ln w="18288">
            <a:solidFill>
              <a:srgbClr val="FFD70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71500" y="4359473"/>
            <a:ext cx="667941" cy="130373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0" name="Text 27"/>
          <p:cNvSpPr/>
          <p:nvPr/>
        </p:nvSpPr>
        <p:spPr>
          <a:xfrm>
            <a:off x="571500" y="4359473"/>
            <a:ext cx="667941" cy="130373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INHERITANCE</a:t>
            </a:r>
            <a:endParaRPr lang="en-US" sz="683" dirty="0"/>
          </a:p>
        </p:txBody>
      </p:sp>
      <p:sp>
        <p:nvSpPr>
          <p:cNvPr id="31" name="Text 28"/>
          <p:cNvSpPr/>
          <p:nvPr/>
        </p:nvSpPr>
        <p:spPr>
          <a:xfrm>
            <a:off x="571500" y="4559498"/>
            <a:ext cx="80010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Класс </a:t>
            </a:r>
            <a:r>
              <a:rPr lang="en-US" sz="885" b="1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HotelsRepository</a:t>
            </a:r>
            <a:r>
              <a:rPr lang="en-US" sz="942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расширяет базовый функционал специфичным методом </a:t>
            </a:r>
            <a:r>
              <a:rPr lang="en-US" sz="885" b="1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get_filtered_by_time()</a:t>
            </a:r>
            <a:r>
              <a:rPr lang="en-US" sz="942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для </a:t>
            </a:r>
            <a:r>
              <a:rPr lang="en-US" sz="942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сложного поиска доступных отелей по заданным датам бронирования.</a:t>
            </a:r>
            <a:endParaRPr lang="en-US" sz="94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71616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1130498"/>
            <a:ext cx="8286750" cy="14288"/>
          </a:xfrm>
          <a:prstGeom prst="rect">
            <a:avLst/>
          </a:prstGeom>
          <a:solidFill>
            <a:srgbClr val="4EC9B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2867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API-роутеры и эндпоинты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28625" y="800100"/>
            <a:ext cx="828675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REST API охватывает все бизнес-сущности системы бронирования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28625" y="1416248"/>
            <a:ext cx="8286750" cy="2621756"/>
          </a:xfrm>
          <a:prstGeom prst="rect">
            <a:avLst/>
          </a:prstGeom>
          <a:solidFill>
            <a:srgbClr val="1E1E1E">
              <a:alpha val="90000"/>
            </a:srgbClr>
          </a:solidFill>
          <a:ln w="18288">
            <a:solidFill>
              <a:srgbClr val="4EC9B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32197" y="1419820"/>
            <a:ext cx="2069902" cy="371475"/>
          </a:xfrm>
          <a:prstGeom prst="rect">
            <a:avLst/>
          </a:prstGeom>
          <a:solidFill>
            <a:srgbClr val="4EC9B0">
              <a:alpha val="10000"/>
            </a:srgbClr>
          </a:solidFill>
          <a:ln w="9144">
            <a:solidFill>
              <a:srgbClr val="4EC9B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2197" y="1419820"/>
            <a:ext cx="2069902" cy="371475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РОУТЕР</a:t>
            </a:r>
            <a:endParaRPr lang="en-US" sz="784" dirty="0"/>
          </a:p>
        </p:txBody>
      </p:sp>
      <p:sp>
        <p:nvSpPr>
          <p:cNvPr id="10" name="Shape 7"/>
          <p:cNvSpPr/>
          <p:nvPr/>
        </p:nvSpPr>
        <p:spPr>
          <a:xfrm>
            <a:off x="2502098" y="1419820"/>
            <a:ext cx="1655899" cy="371475"/>
          </a:xfrm>
          <a:prstGeom prst="rect">
            <a:avLst/>
          </a:prstGeom>
          <a:solidFill>
            <a:srgbClr val="4EC9B0">
              <a:alpha val="10000"/>
            </a:srgbClr>
          </a:solidFill>
          <a:ln w="9144">
            <a:solidFill>
              <a:srgbClr val="4EC9B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02098" y="1419820"/>
            <a:ext cx="1655899" cy="371475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ПРЕФИКС</a:t>
            </a:r>
            <a:endParaRPr lang="en-US" sz="784" dirty="0"/>
          </a:p>
        </p:txBody>
      </p:sp>
      <p:sp>
        <p:nvSpPr>
          <p:cNvPr id="12" name="Shape 9"/>
          <p:cNvSpPr/>
          <p:nvPr/>
        </p:nvSpPr>
        <p:spPr>
          <a:xfrm>
            <a:off x="4157997" y="1419820"/>
            <a:ext cx="4553806" cy="371475"/>
          </a:xfrm>
          <a:prstGeom prst="rect">
            <a:avLst/>
          </a:prstGeom>
          <a:solidFill>
            <a:srgbClr val="4EC9B0">
              <a:alpha val="10000"/>
            </a:srgbClr>
          </a:solidFill>
          <a:ln w="9144">
            <a:solidFill>
              <a:srgbClr val="4EC9B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57997" y="1419820"/>
            <a:ext cx="4553806" cy="371475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ФУНКЦИОНАЛЬНОСТЬ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432197" y="1784152"/>
            <a:ext cx="2069902" cy="371475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router_auth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2502098" y="1784152"/>
            <a:ext cx="1655899" cy="371475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/auth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4157997" y="1784152"/>
            <a:ext cx="4553806" cy="371475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Регистрация, вход, выход, профиль пользователя</a:t>
            </a:r>
            <a:endParaRPr lang="en-US" sz="834" dirty="0"/>
          </a:p>
        </p:txBody>
      </p:sp>
      <p:sp>
        <p:nvSpPr>
          <p:cNvPr id="17" name="Text 14"/>
          <p:cNvSpPr/>
          <p:nvPr/>
        </p:nvSpPr>
        <p:spPr>
          <a:xfrm>
            <a:off x="432197" y="2155627"/>
            <a:ext cx="2069902" cy="371475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router_hotels</a:t>
            </a:r>
            <a:endParaRPr lang="en-US" sz="784" dirty="0"/>
          </a:p>
        </p:txBody>
      </p:sp>
      <p:sp>
        <p:nvSpPr>
          <p:cNvPr id="18" name="Text 15"/>
          <p:cNvSpPr/>
          <p:nvPr/>
        </p:nvSpPr>
        <p:spPr>
          <a:xfrm>
            <a:off x="2502098" y="2155627"/>
            <a:ext cx="1655899" cy="371475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/hotels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4157997" y="2155627"/>
            <a:ext cx="4553806" cy="371475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CRUD отелей, сложный поиск доступных отелей по датам</a:t>
            </a:r>
            <a:endParaRPr lang="en-US" sz="834" dirty="0"/>
          </a:p>
        </p:txBody>
      </p:sp>
      <p:sp>
        <p:nvSpPr>
          <p:cNvPr id="20" name="Text 17"/>
          <p:cNvSpPr/>
          <p:nvPr/>
        </p:nvSpPr>
        <p:spPr>
          <a:xfrm>
            <a:off x="432197" y="2527102"/>
            <a:ext cx="2069902" cy="371475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router_rooms</a:t>
            </a:r>
            <a:endParaRPr lang="en-US" sz="784" dirty="0"/>
          </a:p>
        </p:txBody>
      </p:sp>
      <p:sp>
        <p:nvSpPr>
          <p:cNvPr id="21" name="Text 18"/>
          <p:cNvSpPr/>
          <p:nvPr/>
        </p:nvSpPr>
        <p:spPr>
          <a:xfrm>
            <a:off x="2502098" y="2527102"/>
            <a:ext cx="1655899" cy="371475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/rooms</a:t>
            </a:r>
            <a:endParaRPr lang="en-US" sz="784" dirty="0"/>
          </a:p>
        </p:txBody>
      </p:sp>
      <p:sp>
        <p:nvSpPr>
          <p:cNvPr id="22" name="Text 19"/>
          <p:cNvSpPr/>
          <p:nvPr/>
        </p:nvSpPr>
        <p:spPr>
          <a:xfrm>
            <a:off x="4157997" y="2527102"/>
            <a:ext cx="4553806" cy="371475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CRUD номеров конкретного отеля</a:t>
            </a:r>
            <a:endParaRPr lang="en-US" sz="834" dirty="0"/>
          </a:p>
        </p:txBody>
      </p:sp>
      <p:sp>
        <p:nvSpPr>
          <p:cNvPr id="23" name="Text 20"/>
          <p:cNvSpPr/>
          <p:nvPr/>
        </p:nvSpPr>
        <p:spPr>
          <a:xfrm>
            <a:off x="432197" y="2898577"/>
            <a:ext cx="2069902" cy="371475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router_bookings</a:t>
            </a:r>
            <a:endParaRPr lang="en-US" sz="784" dirty="0"/>
          </a:p>
        </p:txBody>
      </p:sp>
      <p:sp>
        <p:nvSpPr>
          <p:cNvPr id="24" name="Text 21"/>
          <p:cNvSpPr/>
          <p:nvPr/>
        </p:nvSpPr>
        <p:spPr>
          <a:xfrm>
            <a:off x="2502098" y="2898577"/>
            <a:ext cx="1655899" cy="371475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/bookings</a:t>
            </a:r>
            <a:endParaRPr lang="en-US" sz="784" dirty="0"/>
          </a:p>
        </p:txBody>
      </p:sp>
      <p:sp>
        <p:nvSpPr>
          <p:cNvPr id="25" name="Text 22"/>
          <p:cNvSpPr/>
          <p:nvPr/>
        </p:nvSpPr>
        <p:spPr>
          <a:xfrm>
            <a:off x="4157997" y="2898577"/>
            <a:ext cx="4553806" cy="371475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Управление бронированиями пользователей</a:t>
            </a:r>
            <a:endParaRPr lang="en-US" sz="834" dirty="0"/>
          </a:p>
        </p:txBody>
      </p:sp>
      <p:sp>
        <p:nvSpPr>
          <p:cNvPr id="26" name="Text 23"/>
          <p:cNvSpPr/>
          <p:nvPr/>
        </p:nvSpPr>
        <p:spPr>
          <a:xfrm>
            <a:off x="432197" y="3270052"/>
            <a:ext cx="2069902" cy="371475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router_facilities</a:t>
            </a:r>
            <a:endParaRPr lang="en-US" sz="784" dirty="0"/>
          </a:p>
        </p:txBody>
      </p:sp>
      <p:sp>
        <p:nvSpPr>
          <p:cNvPr id="27" name="Text 24"/>
          <p:cNvSpPr/>
          <p:nvPr/>
        </p:nvSpPr>
        <p:spPr>
          <a:xfrm>
            <a:off x="2502098" y="3270052"/>
            <a:ext cx="1655899" cy="371475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/facilities</a:t>
            </a:r>
            <a:endParaRPr lang="en-US" sz="784" dirty="0"/>
          </a:p>
        </p:txBody>
      </p:sp>
      <p:sp>
        <p:nvSpPr>
          <p:cNvPr id="28" name="Text 25"/>
          <p:cNvSpPr/>
          <p:nvPr/>
        </p:nvSpPr>
        <p:spPr>
          <a:xfrm>
            <a:off x="4157997" y="3270052"/>
            <a:ext cx="4553806" cy="371475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Управление списком удобств в номерах</a:t>
            </a:r>
            <a:endParaRPr lang="en-US" sz="834" dirty="0"/>
          </a:p>
        </p:txBody>
      </p:sp>
      <p:sp>
        <p:nvSpPr>
          <p:cNvPr id="29" name="Text 26"/>
          <p:cNvSpPr/>
          <p:nvPr/>
        </p:nvSpPr>
        <p:spPr>
          <a:xfrm>
            <a:off x="432197" y="3641527"/>
            <a:ext cx="2069902" cy="371475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router_images</a:t>
            </a:r>
            <a:endParaRPr lang="en-US" sz="784" dirty="0"/>
          </a:p>
        </p:txBody>
      </p:sp>
      <p:sp>
        <p:nvSpPr>
          <p:cNvPr id="30" name="Text 27"/>
          <p:cNvSpPr/>
          <p:nvPr/>
        </p:nvSpPr>
        <p:spPr>
          <a:xfrm>
            <a:off x="2502098" y="3641527"/>
            <a:ext cx="1655899" cy="371475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/images</a:t>
            </a:r>
            <a:endParaRPr lang="en-US" sz="784" dirty="0"/>
          </a:p>
        </p:txBody>
      </p:sp>
      <p:sp>
        <p:nvSpPr>
          <p:cNvPr id="31" name="Text 28"/>
          <p:cNvSpPr/>
          <p:nvPr/>
        </p:nvSpPr>
        <p:spPr>
          <a:xfrm>
            <a:off x="4157997" y="3641527"/>
            <a:ext cx="4553806" cy="371475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Загрузка и обработка изображений отелей</a:t>
            </a:r>
            <a:endParaRPr lang="en-US" sz="834" dirty="0"/>
          </a:p>
        </p:txBody>
      </p:sp>
      <p:sp>
        <p:nvSpPr>
          <p:cNvPr id="32" name="Shape 29"/>
          <p:cNvSpPr/>
          <p:nvPr/>
        </p:nvSpPr>
        <p:spPr>
          <a:xfrm>
            <a:off x="428625" y="4230886"/>
            <a:ext cx="8286750" cy="700088"/>
          </a:xfrm>
          <a:prstGeom prst="rect">
            <a:avLst/>
          </a:prstGeom>
          <a:solidFill>
            <a:srgbClr val="1E1E1E">
              <a:alpha val="90000"/>
            </a:srgbClr>
          </a:solidFill>
          <a:ln w="18288">
            <a:solidFill>
              <a:srgbClr val="A4A4A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71500" y="4145161"/>
            <a:ext cx="789384" cy="130373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4" name="Text 31"/>
          <p:cNvSpPr/>
          <p:nvPr/>
        </p:nvSpPr>
        <p:spPr>
          <a:xfrm>
            <a:off x="571500" y="4145161"/>
            <a:ext cx="789384" cy="130373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DOCUMENTATION</a:t>
            </a:r>
            <a:endParaRPr lang="en-US" sz="683" dirty="0"/>
          </a:p>
        </p:txBody>
      </p:sp>
      <p:sp>
        <p:nvSpPr>
          <p:cNvPr id="35" name="Text 32"/>
          <p:cNvSpPr/>
          <p:nvPr/>
        </p:nvSpPr>
        <p:spPr>
          <a:xfrm>
            <a:off x="607219" y="4373761"/>
            <a:ext cx="792956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Интерактивная документация </a:t>
            </a:r>
            <a:r>
              <a:rPr lang="en-US" sz="885" b="1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Swagger UI</a:t>
            </a:r>
            <a:r>
              <a:rPr lang="en-US" sz="942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автоматически генерируется FastAPI и доступна по эндпоинту </a:t>
            </a:r>
            <a:r>
              <a:rPr lang="en-US" sz="885" b="1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/docs</a:t>
            </a:r>
            <a:r>
              <a:rPr lang="en-US" sz="942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с кастомной конфигурацией.</a:t>
            </a:r>
            <a:endParaRPr lang="en-US" sz="94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71616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1130498"/>
            <a:ext cx="8286750" cy="14288"/>
          </a:xfrm>
          <a:prstGeom prst="rect">
            <a:avLst/>
          </a:prstGeom>
          <a:solidFill>
            <a:srgbClr val="4EC9B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2867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Фоновые задачи — Redis и Celery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28625" y="800100"/>
            <a:ext cx="828675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Celery + Redis обеспечивают асинхронную обработку задач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28625" y="1416248"/>
            <a:ext cx="3214688" cy="2188778"/>
          </a:xfrm>
          <a:prstGeom prst="rect">
            <a:avLst/>
          </a:prstGeom>
          <a:solidFill>
            <a:srgbClr val="1E1E1E">
              <a:alpha val="90000"/>
            </a:srgbClr>
          </a:solidFill>
          <a:ln w="18288">
            <a:solidFill>
              <a:srgbClr val="4EC9B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1500" y="1330523"/>
            <a:ext cx="789384" cy="130373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9" name="Text 6"/>
          <p:cNvSpPr/>
          <p:nvPr/>
        </p:nvSpPr>
        <p:spPr>
          <a:xfrm>
            <a:off x="571500" y="1330523"/>
            <a:ext cx="789384" cy="130373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REDIS_MANAGER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642938" y="1630561"/>
            <a:ext cx="278606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Управляет подключением к in-memory хранилищу Redis, выполняя две ключевые роли: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850106" y="2287786"/>
            <a:ext cx="74652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Кэширование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850106" y="2437805"/>
            <a:ext cx="257889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Интеграция через fastapi-cache2 для ускорения ответов API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850106" y="2824962"/>
            <a:ext cx="8143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Брокер задач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850106" y="2974981"/>
            <a:ext cx="257889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Очередь сообщений для передачи задач воркеру Celery</a:t>
            </a:r>
            <a:endParaRPr lang="en-US" sz="727" dirty="0"/>
          </a:p>
        </p:txBody>
      </p:sp>
      <p:sp>
        <p:nvSpPr>
          <p:cNvPr id="15" name="Shape 12"/>
          <p:cNvSpPr/>
          <p:nvPr/>
        </p:nvSpPr>
        <p:spPr>
          <a:xfrm>
            <a:off x="3857625" y="1416248"/>
            <a:ext cx="4857750" cy="2160203"/>
          </a:xfrm>
          <a:prstGeom prst="rect">
            <a:avLst/>
          </a:prstGeom>
          <a:solidFill>
            <a:srgbClr val="1E1E1E">
              <a:alpha val="90000"/>
            </a:srgbClr>
          </a:solidFill>
          <a:ln w="18288">
            <a:solidFill>
              <a:srgbClr val="FFD70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000500" y="1330523"/>
            <a:ext cx="728663" cy="130373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7" name="Text 14"/>
          <p:cNvSpPr/>
          <p:nvPr/>
        </p:nvSpPr>
        <p:spPr>
          <a:xfrm>
            <a:off x="4000500" y="1330523"/>
            <a:ext cx="728663" cy="130373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CELERY_TASKS</a:t>
            </a:r>
            <a:endParaRPr lang="en-US" sz="683" dirty="0"/>
          </a:p>
        </p:txBody>
      </p:sp>
      <p:sp>
        <p:nvSpPr>
          <p:cNvPr id="18" name="Text 15"/>
          <p:cNvSpPr/>
          <p:nvPr/>
        </p:nvSpPr>
        <p:spPr>
          <a:xfrm>
            <a:off x="4279106" y="1630561"/>
            <a:ext cx="327898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test_task()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4279106" y="1816298"/>
            <a:ext cx="3278981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Тестовая задача для проверки работоспособности воркера</a:t>
            </a:r>
            <a:endParaRPr lang="en-US" sz="727" dirty="0"/>
          </a:p>
        </p:txBody>
      </p:sp>
      <p:sp>
        <p:nvSpPr>
          <p:cNvPr id="20" name="Text 17"/>
          <p:cNvSpPr/>
          <p:nvPr/>
        </p:nvSpPr>
        <p:spPr>
          <a:xfrm>
            <a:off x="4279106" y="2063455"/>
            <a:ext cx="422195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resize_image(image_path)</a:t>
            </a:r>
            <a:endParaRPr lang="en-US" sz="784" dirty="0"/>
          </a:p>
        </p:txBody>
      </p:sp>
      <p:sp>
        <p:nvSpPr>
          <p:cNvPr id="21" name="Text 18"/>
          <p:cNvSpPr/>
          <p:nvPr/>
        </p:nvSpPr>
        <p:spPr>
          <a:xfrm>
            <a:off x="4279106" y="2249193"/>
            <a:ext cx="4221956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Асинхронное сжатие загружаемых изображений в 3 размерах (1000px, 500px, 200px) без блокировки основного потока</a:t>
            </a:r>
            <a:endParaRPr lang="en-US" sz="727" dirty="0"/>
          </a:p>
        </p:txBody>
      </p:sp>
      <p:sp>
        <p:nvSpPr>
          <p:cNvPr id="22" name="Text 19"/>
          <p:cNvSpPr/>
          <p:nvPr/>
        </p:nvSpPr>
        <p:spPr>
          <a:xfrm>
            <a:off x="4279106" y="2636351"/>
            <a:ext cx="422195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send_emails_to_users_with_today_checkin()</a:t>
            </a:r>
            <a:endParaRPr lang="en-US" sz="784" dirty="0"/>
          </a:p>
        </p:txBody>
      </p:sp>
      <p:sp>
        <p:nvSpPr>
          <p:cNvPr id="23" name="Text 20"/>
          <p:cNvSpPr/>
          <p:nvPr/>
        </p:nvSpPr>
        <p:spPr>
          <a:xfrm>
            <a:off x="4279106" y="2822088"/>
            <a:ext cx="4221956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Ежедневная рассылка уведомлений о заезде (в тестовом режиме запускается каждые 5 секунд через beat_schedule)</a:t>
            </a:r>
            <a:endParaRPr lang="en-US" sz="727" dirty="0"/>
          </a:p>
        </p:txBody>
      </p:sp>
      <p:sp>
        <p:nvSpPr>
          <p:cNvPr id="24" name="Shape 21"/>
          <p:cNvSpPr/>
          <p:nvPr/>
        </p:nvSpPr>
        <p:spPr>
          <a:xfrm>
            <a:off x="428625" y="3790764"/>
            <a:ext cx="8286750" cy="700088"/>
          </a:xfrm>
          <a:prstGeom prst="rect">
            <a:avLst/>
          </a:prstGeom>
          <a:solidFill>
            <a:srgbClr val="A4A4A4">
              <a:alpha val="5000"/>
            </a:srgbClr>
          </a:solidFill>
          <a:ln w="18288">
            <a:solidFill>
              <a:srgbClr val="A4A4A4"/>
            </a:solidFill>
            <a:prstDash val="dash"/>
          </a:ln>
        </p:spPr>
      </p:sp>
      <p:sp>
        <p:nvSpPr>
          <p:cNvPr id="25" name="Shape 22"/>
          <p:cNvSpPr/>
          <p:nvPr/>
        </p:nvSpPr>
        <p:spPr>
          <a:xfrm>
            <a:off x="571500" y="3705039"/>
            <a:ext cx="546497" cy="130373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6" name="Text 23"/>
          <p:cNvSpPr/>
          <p:nvPr/>
        </p:nvSpPr>
        <p:spPr>
          <a:xfrm>
            <a:off x="571500" y="3705039"/>
            <a:ext cx="546497" cy="130373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SCHEDULER</a:t>
            </a:r>
            <a:endParaRPr lang="en-US" sz="683" dirty="0"/>
          </a:p>
        </p:txBody>
      </p:sp>
      <p:sp>
        <p:nvSpPr>
          <p:cNvPr id="27" name="Text 24"/>
          <p:cNvSpPr/>
          <p:nvPr/>
        </p:nvSpPr>
        <p:spPr>
          <a:xfrm>
            <a:off x="642938" y="3933639"/>
            <a:ext cx="78581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Celery Beat</a:t>
            </a:r>
            <a:r>
              <a:rPr lang="en-US" sz="942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обеспечивает периодическое выполнение задач по расписанию, позволяя автоматизировать </a:t>
            </a:r>
            <a:r>
              <a:rPr lang="en-US" sz="942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рутинные процессы системы бронирования.</a:t>
            </a:r>
            <a:endParaRPr lang="en-US" sz="94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71616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1130498"/>
            <a:ext cx="8286750" cy="14288"/>
          </a:xfrm>
          <a:prstGeom prst="rect">
            <a:avLst/>
          </a:prstGeom>
          <a:solidFill>
            <a:srgbClr val="4EC9B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2867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Авторизация и безопасность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28625" y="800100"/>
            <a:ext cx="828675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JWT-авторизация защищает пользовательские данные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28625" y="1201936"/>
            <a:ext cx="4143375" cy="1259086"/>
          </a:xfrm>
          <a:prstGeom prst="rect">
            <a:avLst/>
          </a:prstGeom>
          <a:solidFill>
            <a:srgbClr val="1E1E1E">
              <a:alpha val="90000"/>
            </a:srgbClr>
          </a:solidFill>
          <a:ln w="18288">
            <a:solidFill>
              <a:srgbClr val="4EC9B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1500" y="1116211"/>
            <a:ext cx="789384" cy="130373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9" name="Text 6"/>
          <p:cNvSpPr/>
          <p:nvPr/>
        </p:nvSpPr>
        <p:spPr>
          <a:xfrm>
            <a:off x="571500" y="1116211"/>
            <a:ext cx="789384" cy="130373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JWT_MECHANISM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807244" y="1325166"/>
            <a:ext cx="169664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Токен доступа хранится в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2503884" y="1325166"/>
            <a:ext cx="40719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cookie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2911078" y="1325166"/>
            <a:ext cx="1357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3046809" y="1316236"/>
            <a:ext cx="82298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access_token</a:t>
            </a:r>
            <a:endParaRPr lang="en-US" sz="834" dirty="0"/>
          </a:p>
        </p:txBody>
      </p:sp>
      <p:sp>
        <p:nvSpPr>
          <p:cNvPr id="14" name="Text 11"/>
          <p:cNvSpPr/>
          <p:nvPr/>
        </p:nvSpPr>
        <p:spPr>
          <a:xfrm>
            <a:off x="535781" y="1325166"/>
            <a:ext cx="3469742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), снижая риск XSS.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807244" y="1744861"/>
            <a:ext cx="149304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Проверка токена через</a:t>
            </a:r>
            <a:endParaRPr lang="en-US" sz="834" dirty="0"/>
          </a:p>
        </p:txBody>
      </p:sp>
      <p:sp>
        <p:nvSpPr>
          <p:cNvPr id="16" name="Text 13"/>
          <p:cNvSpPr/>
          <p:nvPr/>
        </p:nvSpPr>
        <p:spPr>
          <a:xfrm>
            <a:off x="2300288" y="1735931"/>
            <a:ext cx="192024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AuthService().decode_token()</a:t>
            </a:r>
            <a:endParaRPr lang="en-US" sz="834" dirty="0"/>
          </a:p>
        </p:txBody>
      </p:sp>
      <p:sp>
        <p:nvSpPr>
          <p:cNvPr id="17" name="Text 14"/>
          <p:cNvSpPr/>
          <p:nvPr/>
        </p:nvSpPr>
        <p:spPr>
          <a:xfrm>
            <a:off x="4220533" y="1744861"/>
            <a:ext cx="6786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.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807244" y="1993106"/>
            <a:ext cx="8143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Зависимость</a:t>
            </a:r>
            <a:endParaRPr lang="en-US" sz="834" dirty="0"/>
          </a:p>
        </p:txBody>
      </p:sp>
      <p:sp>
        <p:nvSpPr>
          <p:cNvPr id="19" name="Text 16"/>
          <p:cNvSpPr/>
          <p:nvPr/>
        </p:nvSpPr>
        <p:spPr>
          <a:xfrm>
            <a:off x="1621631" y="1984177"/>
            <a:ext cx="61723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UserIdDep</a:t>
            </a:r>
            <a:endParaRPr lang="en-US" sz="834" dirty="0"/>
          </a:p>
        </p:txBody>
      </p:sp>
      <p:sp>
        <p:nvSpPr>
          <p:cNvPr id="20" name="Text 17"/>
          <p:cNvSpPr/>
          <p:nvPr/>
        </p:nvSpPr>
        <p:spPr>
          <a:xfrm>
            <a:off x="2238868" y="1993106"/>
            <a:ext cx="74652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извлекает</a:t>
            </a:r>
            <a:endParaRPr lang="en-US" sz="834" dirty="0"/>
          </a:p>
        </p:txBody>
      </p:sp>
      <p:sp>
        <p:nvSpPr>
          <p:cNvPr id="21" name="Text 18"/>
          <p:cNvSpPr/>
          <p:nvPr/>
        </p:nvSpPr>
        <p:spPr>
          <a:xfrm>
            <a:off x="2985390" y="1984177"/>
            <a:ext cx="48008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user_id</a:t>
            </a:r>
            <a:endParaRPr lang="en-US" sz="834" dirty="0"/>
          </a:p>
        </p:txBody>
      </p:sp>
      <p:sp>
        <p:nvSpPr>
          <p:cNvPr id="22" name="Text 19"/>
          <p:cNvSpPr/>
          <p:nvPr/>
        </p:nvSpPr>
        <p:spPr>
          <a:xfrm>
            <a:off x="535781" y="1993106"/>
            <a:ext cx="3201153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для защищённых эндпоинтов.</a:t>
            </a:r>
            <a:endParaRPr lang="en-US" sz="834" dirty="0"/>
          </a:p>
        </p:txBody>
      </p:sp>
      <p:sp>
        <p:nvSpPr>
          <p:cNvPr id="23" name="Shape 20"/>
          <p:cNvSpPr/>
          <p:nvPr/>
        </p:nvSpPr>
        <p:spPr>
          <a:xfrm>
            <a:off x="428625" y="2546747"/>
            <a:ext cx="4143375" cy="802193"/>
          </a:xfrm>
          <a:prstGeom prst="rect">
            <a:avLst/>
          </a:prstGeom>
          <a:solidFill>
            <a:srgbClr val="1E1E1E">
              <a:alpha val="90000"/>
            </a:srgbClr>
          </a:solidFill>
          <a:ln w="18288">
            <a:solidFill>
              <a:srgbClr val="FFD70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71500" y="2461022"/>
            <a:ext cx="728663" cy="130373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5" name="Text 22"/>
          <p:cNvSpPr/>
          <p:nvPr/>
        </p:nvSpPr>
        <p:spPr>
          <a:xfrm>
            <a:off x="571500" y="2461022"/>
            <a:ext cx="728663" cy="130373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UNIT_OF_WORK</a:t>
            </a:r>
            <a:endParaRPr lang="en-US" sz="683" dirty="0"/>
          </a:p>
        </p:txBody>
      </p:sp>
      <p:sp>
        <p:nvSpPr>
          <p:cNvPr id="26" name="Text 23"/>
          <p:cNvSpPr/>
          <p:nvPr/>
        </p:nvSpPr>
        <p:spPr>
          <a:xfrm>
            <a:off x="535781" y="2666405"/>
            <a:ext cx="61723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DBManager</a:t>
            </a:r>
            <a:endParaRPr lang="en-US" sz="834" dirty="0"/>
          </a:p>
        </p:txBody>
      </p:sp>
      <p:sp>
        <p:nvSpPr>
          <p:cNvPr id="27" name="Text 24"/>
          <p:cNvSpPr/>
          <p:nvPr/>
        </p:nvSpPr>
        <p:spPr>
          <a:xfrm>
            <a:off x="1153018" y="2675334"/>
            <a:ext cx="128944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реализует паттерн</a:t>
            </a:r>
            <a:endParaRPr lang="en-US" sz="834" dirty="0"/>
          </a:p>
        </p:txBody>
      </p:sp>
      <p:sp>
        <p:nvSpPr>
          <p:cNvPr id="28" name="Text 25"/>
          <p:cNvSpPr/>
          <p:nvPr/>
        </p:nvSpPr>
        <p:spPr>
          <a:xfrm>
            <a:off x="2442465" y="2675334"/>
            <a:ext cx="8143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Unit of Work</a:t>
            </a:r>
            <a:endParaRPr lang="en-US" sz="784" dirty="0"/>
          </a:p>
        </p:txBody>
      </p:sp>
      <p:sp>
        <p:nvSpPr>
          <p:cNvPr id="29" name="Text 26"/>
          <p:cNvSpPr/>
          <p:nvPr/>
        </p:nvSpPr>
        <p:spPr>
          <a:xfrm>
            <a:off x="3256852" y="2675334"/>
            <a:ext cx="40719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через</a:t>
            </a:r>
            <a:endParaRPr lang="en-US" sz="834" dirty="0"/>
          </a:p>
        </p:txBody>
      </p:sp>
      <p:sp>
        <p:nvSpPr>
          <p:cNvPr id="30" name="Text 27"/>
          <p:cNvSpPr/>
          <p:nvPr/>
        </p:nvSpPr>
        <p:spPr>
          <a:xfrm>
            <a:off x="535781" y="2863555"/>
            <a:ext cx="149304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контекстный менеджер (</a:t>
            </a:r>
            <a:endParaRPr lang="en-US" sz="834" dirty="0"/>
          </a:p>
        </p:txBody>
      </p:sp>
      <p:sp>
        <p:nvSpPr>
          <p:cNvPr id="31" name="Text 28"/>
          <p:cNvSpPr/>
          <p:nvPr/>
        </p:nvSpPr>
        <p:spPr>
          <a:xfrm>
            <a:off x="2028825" y="2854626"/>
            <a:ext cx="6858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async with</a:t>
            </a:r>
            <a:endParaRPr lang="en-US" sz="834" dirty="0"/>
          </a:p>
        </p:txBody>
      </p:sp>
      <p:sp>
        <p:nvSpPr>
          <p:cNvPr id="32" name="Text 29"/>
          <p:cNvSpPr/>
          <p:nvPr/>
        </p:nvSpPr>
        <p:spPr>
          <a:xfrm>
            <a:off x="2714625" y="2863555"/>
            <a:ext cx="9501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), обеспечивая</a:t>
            </a:r>
            <a:endParaRPr lang="en-US" sz="834" dirty="0"/>
          </a:p>
        </p:txBody>
      </p:sp>
      <p:sp>
        <p:nvSpPr>
          <p:cNvPr id="33" name="Text 30"/>
          <p:cNvSpPr/>
          <p:nvPr/>
        </p:nvSpPr>
        <p:spPr>
          <a:xfrm>
            <a:off x="535781" y="3046419"/>
            <a:ext cx="285035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атомарность транзакций и откат при ошибке.</a:t>
            </a:r>
            <a:endParaRPr lang="en-US" sz="834" dirty="0"/>
          </a:p>
        </p:txBody>
      </p:sp>
      <p:sp>
        <p:nvSpPr>
          <p:cNvPr id="34" name="Shape 31"/>
          <p:cNvSpPr/>
          <p:nvPr/>
        </p:nvSpPr>
        <p:spPr>
          <a:xfrm>
            <a:off x="4857750" y="1201936"/>
            <a:ext cx="3857625" cy="2118429"/>
          </a:xfrm>
          <a:prstGeom prst="rect">
            <a:avLst/>
          </a:prstGeom>
          <a:solidFill>
            <a:srgbClr val="0F0F0F">
              <a:alpha val="95000"/>
            </a:srgbClr>
          </a:solidFill>
          <a:ln w="18288">
            <a:solidFill>
              <a:srgbClr val="A4A4A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186613" y="1116211"/>
            <a:ext cx="1214438" cy="130373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6" name="Text 33"/>
          <p:cNvSpPr/>
          <p:nvPr/>
        </p:nvSpPr>
        <p:spPr>
          <a:xfrm>
            <a:off x="7186613" y="1116211"/>
            <a:ext cx="1214438" cy="130373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FASTAPI_DEPENDENCIES</a:t>
            </a:r>
            <a:endParaRPr lang="en-US" sz="683" dirty="0"/>
          </a:p>
        </p:txBody>
      </p:sp>
      <p:sp>
        <p:nvSpPr>
          <p:cNvPr id="37" name="Text 34"/>
          <p:cNvSpPr/>
          <p:nvPr/>
        </p:nvSpPr>
        <p:spPr>
          <a:xfrm>
            <a:off x="4964906" y="1344811"/>
            <a:ext cx="3643313" cy="1821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i="1" dirty="0">
                <a:solidFill>
                  <a:srgbClr val="6A995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# src/api/dependencies.py (сокращённо)</a:t>
            </a:r>
            <a:r>
              <a:rPr lang="en-US" sz="78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734" b="1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class</a:t>
            </a:r>
            <a:r>
              <a:rPr lang="en-US" sz="78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780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PaginationParams</a:t>
            </a:r>
            <a:r>
              <a:rPr lang="en-US" sz="78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</a:t>
            </a:r>
            <a:r>
              <a:rPr lang="en-US" sz="780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BaseModel</a:t>
            </a:r>
            <a:r>
              <a:rPr lang="en-US" sz="78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):
</a:t>
            </a:r>
            <a:r>
              <a:rPr lang="en-US" sz="78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   page: </a:t>
            </a:r>
            <a:r>
              <a:rPr lang="en-US" sz="780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Annotated</a:t>
            </a:r>
            <a:r>
              <a:rPr lang="en-US" sz="78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[</a:t>
            </a:r>
            <a:r>
              <a:rPr lang="en-US" sz="780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int</a:t>
            </a:r>
            <a:r>
              <a:rPr lang="en-US" sz="78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| </a:t>
            </a:r>
            <a:r>
              <a:rPr lang="en-US" sz="734" b="1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None</a:t>
            </a:r>
            <a:r>
              <a:rPr lang="en-US" sz="78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, Query(</a:t>
            </a:r>
            <a:r>
              <a:rPr lang="en-US" sz="78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1</a:t>
            </a:r>
            <a:r>
              <a:rPr lang="en-US" sz="78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, ge=</a:t>
            </a:r>
            <a:r>
              <a:rPr lang="en-US" sz="78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1</a:t>
            </a:r>
            <a:r>
              <a:rPr lang="en-US" sz="78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)]
</a:t>
            </a:r>
            <a:r>
              <a:rPr lang="en-US" sz="78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   per_page: </a:t>
            </a:r>
            <a:r>
              <a:rPr lang="en-US" sz="780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Annotated</a:t>
            </a:r>
            <a:r>
              <a:rPr lang="en-US" sz="78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[</a:t>
            </a:r>
            <a:r>
              <a:rPr lang="en-US" sz="780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int</a:t>
            </a:r>
            <a:r>
              <a:rPr lang="en-US" sz="78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| </a:t>
            </a:r>
            <a:r>
              <a:rPr lang="en-US" sz="734" b="1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None</a:t>
            </a:r>
            <a:r>
              <a:rPr lang="en-US" sz="78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, Query(</a:t>
            </a:r>
            <a:r>
              <a:rPr lang="en-US" sz="734" b="1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None</a:t>
            </a:r>
            <a:r>
              <a:rPr lang="en-US" sz="78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, ge=</a:t>
            </a:r>
            <a:r>
              <a:rPr lang="en-US" sz="78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1</a:t>
            </a:r>
            <a:r>
              <a:rPr lang="en-US" sz="78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)]
</a:t>
            </a:r>
            <a:r>
              <a:rPr lang="en-US" sz="78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780" i="1" dirty="0">
                <a:solidFill>
                  <a:srgbClr val="6A995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# Зависимости</a:t>
            </a:r>
            <a:r>
              <a:rPr lang="en-US" sz="78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78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PaginationDep = </a:t>
            </a:r>
            <a:r>
              <a:rPr lang="en-US" sz="780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Annotated</a:t>
            </a:r>
            <a:r>
              <a:rPr lang="en-US" sz="78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[</a:t>
            </a:r>
            <a:r>
              <a:rPr lang="en-US" sz="780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PaginationParams</a:t>
            </a:r>
            <a:r>
              <a:rPr lang="en-US" sz="78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, Depends()]
</a:t>
            </a:r>
            <a:r>
              <a:rPr lang="en-US" sz="78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UserIdDep = </a:t>
            </a:r>
            <a:r>
              <a:rPr lang="en-US" sz="780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Annotated</a:t>
            </a:r>
            <a:r>
              <a:rPr lang="en-US" sz="78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[</a:t>
            </a:r>
            <a:r>
              <a:rPr lang="en-US" sz="780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int</a:t>
            </a:r>
            <a:r>
              <a:rPr lang="en-US" sz="78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, Depends(get_current_user_id)]
</a:t>
            </a:r>
            <a:r>
              <a:rPr lang="en-US" sz="78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DBDep = </a:t>
            </a:r>
            <a:r>
              <a:rPr lang="en-US" sz="780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Annotated</a:t>
            </a:r>
            <a:r>
              <a:rPr lang="en-US" sz="78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[</a:t>
            </a:r>
            <a:r>
              <a:rPr lang="en-US" sz="780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DBManager</a:t>
            </a:r>
            <a:r>
              <a:rPr lang="en-US" sz="78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, Depends(get_db)]</a:t>
            </a:r>
            <a:endParaRPr lang="en-US" sz="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71616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1130498"/>
            <a:ext cx="8286750" cy="14288"/>
          </a:xfrm>
          <a:prstGeom prst="rect">
            <a:avLst/>
          </a:prstGeom>
          <a:solidFill>
            <a:srgbClr val="4EC9B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2867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Тестирование проекта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28625" y="800100"/>
            <a:ext cx="828675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Автоматизированное тестирование обеспечивает надёжность кода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28625" y="1273373"/>
            <a:ext cx="3857625" cy="2957513"/>
          </a:xfrm>
          <a:prstGeom prst="rect">
            <a:avLst/>
          </a:prstGeom>
          <a:solidFill>
            <a:srgbClr val="1E1E1E">
              <a:alpha val="90000"/>
            </a:srgbClr>
          </a:solidFill>
          <a:ln w="18288">
            <a:solidFill>
              <a:srgbClr val="A4A4A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1500" y="1187648"/>
            <a:ext cx="971550" cy="130373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9" name="Text 6"/>
          <p:cNvSpPr/>
          <p:nvPr/>
        </p:nvSpPr>
        <p:spPr>
          <a:xfrm>
            <a:off x="571500" y="1187648"/>
            <a:ext cx="971550" cy="130373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TEST_ENVIRONMENT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571500" y="1430536"/>
            <a:ext cx="3571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Проект включает директорию </a:t>
            </a:r>
            <a:r>
              <a:rPr lang="en-US" sz="784" b="1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tests/</a:t>
            </a: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с конфигурацией для автоматизированного тестирования.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571500" y="1830586"/>
            <a:ext cx="3571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Режим </a:t>
            </a:r>
            <a:r>
              <a:rPr lang="en-US" sz="784" b="1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TEST</a:t>
            </a: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использует отдельный файл </a:t>
            </a:r>
            <a:r>
              <a:rPr lang="en-US" sz="784" b="1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.env-test</a:t>
            </a: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для изоляции тестовой базы данных от основной.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571500" y="2230636"/>
            <a:ext cx="357187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Специальный движок </a:t>
            </a:r>
            <a:r>
              <a:rPr lang="en-US" sz="784" b="1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engine_null_pool</a:t>
            </a: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без пула соединений предотвращает зависания при асинхронных тестах.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571500" y="2802136"/>
            <a:ext cx="3571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Документация по запуску тестов вынесена в отдельный файл </a:t>
            </a:r>
            <a:r>
              <a:rPr lang="en-US" sz="784" b="1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README-test.md</a:t>
            </a: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.</a:t>
            </a:r>
            <a:endParaRPr lang="en-US" sz="834" dirty="0"/>
          </a:p>
        </p:txBody>
      </p:sp>
      <p:sp>
        <p:nvSpPr>
          <p:cNvPr id="14" name="Shape 11"/>
          <p:cNvSpPr/>
          <p:nvPr/>
        </p:nvSpPr>
        <p:spPr>
          <a:xfrm>
            <a:off x="4572000" y="1273373"/>
            <a:ext cx="4143375" cy="2957513"/>
          </a:xfrm>
          <a:prstGeom prst="rect">
            <a:avLst/>
          </a:prstGeom>
          <a:solidFill>
            <a:srgbClr val="0F0F0F">
              <a:alpha val="95000"/>
            </a:srgbClr>
          </a:solidFill>
          <a:ln w="18288">
            <a:solidFill>
              <a:srgbClr val="FFD70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0" y="1273373"/>
            <a:ext cx="910828" cy="130373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0" y="1273373"/>
            <a:ext cx="910828" cy="130373"/>
          </a:xfrm>
          <a:prstGeom prst="rect">
            <a:avLst/>
          </a:prstGeom>
          <a:noFill/>
          <a:ln/>
        </p:spPr>
        <p:txBody>
          <a:bodyPr wrap="none" lIns="127508" tIns="42545" rIns="127508" bIns="42545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1E1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src/database.py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4714875" y="1487686"/>
            <a:ext cx="3857625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from</a:t>
            </a:r>
            <a:r>
              <a:rPr lang="en-US" sz="78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sqlalchemy </a:t>
            </a:r>
            <a:r>
              <a:rPr lang="en-US" sz="734" b="1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import</a:t>
            </a:r>
            <a:r>
              <a:rPr lang="en-US" sz="78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NullPool
</a:t>
            </a:r>
            <a:r>
              <a:rPr lang="en-US" sz="734" b="1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from</a:t>
            </a:r>
            <a:r>
              <a:rPr lang="en-US" sz="78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sqlalchemy.ext.asyncio </a:t>
            </a:r>
            <a:r>
              <a:rPr lang="en-US" sz="734" b="1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import</a:t>
            </a:r>
            <a:r>
              <a:rPr lang="en-US" sz="78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async_sessionmaker, </a:t>
            </a:r>
            <a:r>
              <a:rPr lang="en-US" sz="78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create_async_engine
</a:t>
            </a:r>
            <a:r>
              <a:rPr lang="en-US" sz="78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78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engine</a:t>
            </a:r>
            <a:r>
              <a:rPr lang="en-US" sz="78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= </a:t>
            </a:r>
            <a:r>
              <a:rPr lang="en-US" sz="780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create_async_engine</a:t>
            </a:r>
            <a:r>
              <a:rPr lang="en-US" sz="78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</a:t>
            </a:r>
            <a:r>
              <a:rPr lang="en-US" sz="780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settings.DB_URL</a:t>
            </a:r>
            <a:r>
              <a:rPr lang="en-US" sz="78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)
</a:t>
            </a:r>
            <a:r>
              <a:rPr lang="en-US" sz="78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78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engine_null_pool</a:t>
            </a:r>
            <a:r>
              <a:rPr lang="en-US" sz="78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= </a:t>
            </a:r>
            <a:r>
              <a:rPr lang="en-US" sz="780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create_async_engine</a:t>
            </a:r>
            <a:r>
              <a:rPr lang="en-US" sz="78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
</a:t>
            </a:r>
            <a:r>
              <a:rPr lang="en-US" sz="78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   </a:t>
            </a:r>
            <a:r>
              <a:rPr lang="en-US" sz="780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settings.DB_URL</a:t>
            </a:r>
            <a:r>
              <a:rPr lang="en-US" sz="78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, 
</a:t>
            </a:r>
            <a:r>
              <a:rPr lang="en-US" sz="78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   </a:t>
            </a:r>
            <a:r>
              <a:rPr lang="en-US" sz="780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poolclass=NullPool</a:t>
            </a:r>
            <a:r>
              <a:rPr lang="en-US" sz="78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78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)
</a:t>
            </a:r>
            <a:r>
              <a:rPr lang="en-US" sz="78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78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async_session_maker_null_pool</a:t>
            </a:r>
            <a:r>
              <a:rPr lang="en-US" sz="78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= </a:t>
            </a:r>
            <a:r>
              <a:rPr lang="en-US" sz="780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async_sessionmaker</a:t>
            </a:r>
            <a:r>
              <a:rPr lang="en-US" sz="78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
</a:t>
            </a:r>
            <a:r>
              <a:rPr lang="en-US" sz="78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   </a:t>
            </a:r>
            <a:r>
              <a:rPr lang="en-US" sz="780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bind=engine_null_pool</a:t>
            </a:r>
            <a:r>
              <a:rPr lang="en-US" sz="78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, 
</a:t>
            </a:r>
            <a:r>
              <a:rPr lang="en-US" sz="78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   </a:t>
            </a:r>
            <a:r>
              <a:rPr lang="en-US" sz="780" dirty="0">
                <a:solidFill>
                  <a:srgbClr val="A4A4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expire_on_commit=False</a:t>
            </a:r>
            <a:r>
              <a:rPr lang="en-US" sz="78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78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)</a:t>
            </a:r>
            <a:endParaRPr lang="en-US" sz="734" dirty="0"/>
          </a:p>
        </p:txBody>
      </p:sp>
      <p:sp>
        <p:nvSpPr>
          <p:cNvPr id="18" name="Shape 15"/>
          <p:cNvSpPr/>
          <p:nvPr/>
        </p:nvSpPr>
        <p:spPr>
          <a:xfrm>
            <a:off x="428625" y="4273748"/>
            <a:ext cx="8286750" cy="585788"/>
          </a:xfrm>
          <a:prstGeom prst="rect">
            <a:avLst/>
          </a:prstGeom>
          <a:solidFill>
            <a:srgbClr val="4EC9B0">
              <a:alpha val="5000"/>
            </a:srgbClr>
          </a:solidFill>
          <a:ln w="18288">
            <a:solidFill>
              <a:srgbClr val="4EC9B0"/>
            </a:solidFill>
            <a:prstDash val="dash"/>
          </a:ln>
        </p:spPr>
      </p:sp>
      <p:sp>
        <p:nvSpPr>
          <p:cNvPr id="19" name="Shape 16"/>
          <p:cNvSpPr/>
          <p:nvPr/>
        </p:nvSpPr>
        <p:spPr>
          <a:xfrm>
            <a:off x="571500" y="4188023"/>
            <a:ext cx="789384" cy="130373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0" name="Text 17"/>
          <p:cNvSpPr/>
          <p:nvPr/>
        </p:nvSpPr>
        <p:spPr>
          <a:xfrm>
            <a:off x="571500" y="4188023"/>
            <a:ext cx="789384" cy="130373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PYTEST_CONFIG</a:t>
            </a:r>
            <a:endParaRPr lang="en-US" sz="683" dirty="0"/>
          </a:p>
        </p:txBody>
      </p:sp>
      <p:sp>
        <p:nvSpPr>
          <p:cNvPr id="21" name="Text 18"/>
          <p:cNvSpPr/>
          <p:nvPr/>
        </p:nvSpPr>
        <p:spPr>
          <a:xfrm>
            <a:off x="642938" y="4359473"/>
            <a:ext cx="78581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Конфигурация </a:t>
            </a:r>
            <a:r>
              <a:rPr lang="en-US" sz="885" b="1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pytest.ini</a:t>
            </a:r>
            <a:r>
              <a:rPr lang="en-US" sz="942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обеспечивает воспроизводимость тестовой среды, позволяя запускать тесты одной </a:t>
            </a:r>
            <a:r>
              <a:rPr lang="en-US" sz="942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командой и гарантируя корректную работу асинхронного кода.</a:t>
            </a:r>
            <a:endParaRPr lang="en-US" sz="942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71616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1130498"/>
            <a:ext cx="8286750" cy="14288"/>
          </a:xfrm>
          <a:prstGeom prst="rect">
            <a:avLst/>
          </a:prstGeom>
          <a:solidFill>
            <a:srgbClr val="4EC9B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2867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Выводы и результаты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28625" y="800100"/>
            <a:ext cx="828675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Проект охватывает полный цикл разработки современного Python-приложения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28625" y="1344811"/>
            <a:ext cx="4071938" cy="642938"/>
          </a:xfrm>
          <a:prstGeom prst="rect">
            <a:avLst/>
          </a:prstGeom>
          <a:solidFill>
            <a:srgbClr val="1E1E1E">
              <a:alpha val="90000"/>
            </a:srgbClr>
          </a:solidFill>
          <a:ln w="9144">
            <a:solidFill>
              <a:srgbClr val="4EC9B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1500" y="1487686"/>
            <a:ext cx="28575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[01]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964406" y="1487686"/>
            <a:ext cx="339328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Освоен современный </a:t>
            </a:r>
            <a:r>
              <a:rPr lang="en-US" sz="784" b="1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асинхронный стек</a:t>
            </a: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: FastAPI + </a:t>
            </a: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SQLAlchemy + PostgreSQL.</a:t>
            </a:r>
            <a:endParaRPr lang="en-US" sz="834" dirty="0"/>
          </a:p>
        </p:txBody>
      </p:sp>
      <p:sp>
        <p:nvSpPr>
          <p:cNvPr id="10" name="Shape 7"/>
          <p:cNvSpPr/>
          <p:nvPr/>
        </p:nvSpPr>
        <p:spPr>
          <a:xfrm>
            <a:off x="4643438" y="1344811"/>
            <a:ext cx="4071938" cy="642938"/>
          </a:xfrm>
          <a:prstGeom prst="rect">
            <a:avLst/>
          </a:prstGeom>
          <a:solidFill>
            <a:srgbClr val="1E1E1E">
              <a:alpha val="90000"/>
            </a:srgbClr>
          </a:solidFill>
          <a:ln w="9144">
            <a:solidFill>
              <a:srgbClr val="4EC9B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86313" y="1487686"/>
            <a:ext cx="28575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[02]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5179219" y="1487686"/>
            <a:ext cx="339328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Реализованы </a:t>
            </a:r>
            <a:r>
              <a:rPr lang="en-US" sz="784" b="1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архитектурные паттерны</a:t>
            </a: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: Repository, </a:t>
            </a: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Service Layer, Unit of Work, DataMapper.</a:t>
            </a:r>
            <a:endParaRPr lang="en-US" sz="834" dirty="0"/>
          </a:p>
        </p:txBody>
      </p:sp>
      <p:sp>
        <p:nvSpPr>
          <p:cNvPr id="13" name="Shape 10"/>
          <p:cNvSpPr/>
          <p:nvPr/>
        </p:nvSpPr>
        <p:spPr>
          <a:xfrm>
            <a:off x="428625" y="2116336"/>
            <a:ext cx="4071938" cy="642938"/>
          </a:xfrm>
          <a:prstGeom prst="rect">
            <a:avLst/>
          </a:prstGeom>
          <a:solidFill>
            <a:srgbClr val="1E1E1E">
              <a:alpha val="90000"/>
            </a:srgbClr>
          </a:solidFill>
          <a:ln w="9144">
            <a:solidFill>
              <a:srgbClr val="4EC9B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1500" y="2259211"/>
            <a:ext cx="28575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[03]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964406" y="2259211"/>
            <a:ext cx="339328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Интегрированы </a:t>
            </a:r>
            <a:r>
              <a:rPr lang="en-US" sz="784" b="1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Redis и Celery</a:t>
            </a: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для фоновой </a:t>
            </a: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обработки задач и кэширования.</a:t>
            </a:r>
            <a:endParaRPr lang="en-US" sz="834" dirty="0"/>
          </a:p>
        </p:txBody>
      </p:sp>
      <p:sp>
        <p:nvSpPr>
          <p:cNvPr id="16" name="Shape 13"/>
          <p:cNvSpPr/>
          <p:nvPr/>
        </p:nvSpPr>
        <p:spPr>
          <a:xfrm>
            <a:off x="4643438" y="2116336"/>
            <a:ext cx="4071938" cy="642938"/>
          </a:xfrm>
          <a:prstGeom prst="rect">
            <a:avLst/>
          </a:prstGeom>
          <a:solidFill>
            <a:srgbClr val="1E1E1E">
              <a:alpha val="90000"/>
            </a:srgbClr>
          </a:solidFill>
          <a:ln w="9144">
            <a:solidFill>
              <a:srgbClr val="4EC9B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86313" y="2259211"/>
            <a:ext cx="28575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[04]</a:t>
            </a:r>
            <a:endParaRPr lang="en-US" sz="885" dirty="0"/>
          </a:p>
        </p:txBody>
      </p:sp>
      <p:sp>
        <p:nvSpPr>
          <p:cNvPr id="18" name="Text 15"/>
          <p:cNvSpPr/>
          <p:nvPr/>
        </p:nvSpPr>
        <p:spPr>
          <a:xfrm>
            <a:off x="5179219" y="2259211"/>
            <a:ext cx="339328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Настроена надежная система </a:t>
            </a:r>
            <a:r>
              <a:rPr lang="en-US" sz="784" b="1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JWT-авторизации</a:t>
            </a: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с </a:t>
            </a: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использованием cookie-токенов.</a:t>
            </a:r>
            <a:endParaRPr lang="en-US" sz="834" dirty="0"/>
          </a:p>
        </p:txBody>
      </p:sp>
      <p:sp>
        <p:nvSpPr>
          <p:cNvPr id="19" name="Shape 16"/>
          <p:cNvSpPr/>
          <p:nvPr/>
        </p:nvSpPr>
        <p:spPr>
          <a:xfrm>
            <a:off x="428625" y="2887861"/>
            <a:ext cx="4071938" cy="642938"/>
          </a:xfrm>
          <a:prstGeom prst="rect">
            <a:avLst/>
          </a:prstGeom>
          <a:solidFill>
            <a:srgbClr val="1E1E1E">
              <a:alpha val="90000"/>
            </a:srgbClr>
          </a:solidFill>
          <a:ln w="9144">
            <a:solidFill>
              <a:srgbClr val="4EC9B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1500" y="3030736"/>
            <a:ext cx="28575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[05]</a:t>
            </a:r>
            <a:endParaRPr lang="en-US" sz="885" dirty="0"/>
          </a:p>
        </p:txBody>
      </p:sp>
      <p:sp>
        <p:nvSpPr>
          <p:cNvPr id="21" name="Text 18"/>
          <p:cNvSpPr/>
          <p:nvPr/>
        </p:nvSpPr>
        <p:spPr>
          <a:xfrm>
            <a:off x="964406" y="3030736"/>
            <a:ext cx="339328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Создана инфраструктура </a:t>
            </a:r>
            <a:r>
              <a:rPr lang="en-US" sz="784" b="1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автоматизированного </a:t>
            </a:r>
            <a:r>
              <a:rPr lang="en-US" sz="784" b="1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тестирования</a:t>
            </a: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с изолированной тестовой БД.</a:t>
            </a:r>
            <a:endParaRPr lang="en-US" sz="834" dirty="0"/>
          </a:p>
        </p:txBody>
      </p:sp>
      <p:sp>
        <p:nvSpPr>
          <p:cNvPr id="22" name="Shape 19"/>
          <p:cNvSpPr/>
          <p:nvPr/>
        </p:nvSpPr>
        <p:spPr>
          <a:xfrm>
            <a:off x="4643438" y="2887861"/>
            <a:ext cx="4071938" cy="642938"/>
          </a:xfrm>
          <a:prstGeom prst="rect">
            <a:avLst/>
          </a:prstGeom>
          <a:solidFill>
            <a:srgbClr val="1E1E1E">
              <a:alpha val="90000"/>
            </a:srgbClr>
          </a:solidFill>
          <a:ln w="9144">
            <a:solidFill>
              <a:srgbClr val="4EC9B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86313" y="3030736"/>
            <a:ext cx="28575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[06]</a:t>
            </a:r>
            <a:endParaRPr lang="en-US" sz="885" dirty="0"/>
          </a:p>
        </p:txBody>
      </p:sp>
      <p:sp>
        <p:nvSpPr>
          <p:cNvPr id="24" name="Text 21"/>
          <p:cNvSpPr/>
          <p:nvPr/>
        </p:nvSpPr>
        <p:spPr>
          <a:xfrm>
            <a:off x="5179219" y="3030736"/>
            <a:ext cx="339328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Применены миграции </a:t>
            </a:r>
            <a:r>
              <a:rPr lang="en-US" sz="784" b="1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Alembic</a:t>
            </a: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для версионирования и </a:t>
            </a:r>
            <a:r>
              <a:rPr lang="en-US" sz="834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управления схемой базы данных.</a:t>
            </a:r>
            <a:endParaRPr lang="en-US" sz="834" dirty="0"/>
          </a:p>
        </p:txBody>
      </p:sp>
      <p:sp>
        <p:nvSpPr>
          <p:cNvPr id="25" name="Shape 22"/>
          <p:cNvSpPr/>
          <p:nvPr/>
        </p:nvSpPr>
        <p:spPr>
          <a:xfrm>
            <a:off x="428625" y="3730823"/>
            <a:ext cx="8286750" cy="814388"/>
          </a:xfrm>
          <a:prstGeom prst="rect">
            <a:avLst/>
          </a:prstGeom>
          <a:solidFill>
            <a:srgbClr val="FFD700">
              <a:alpha val="5000"/>
            </a:srgbClr>
          </a:solidFill>
          <a:ln w="18288">
            <a:solidFill>
              <a:srgbClr val="FFD70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71500" y="3645098"/>
            <a:ext cx="910828" cy="130373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7" name="Text 24"/>
          <p:cNvSpPr/>
          <p:nvPr/>
        </p:nvSpPr>
        <p:spPr>
          <a:xfrm>
            <a:off x="571500" y="3645098"/>
            <a:ext cx="910828" cy="130373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PRACTICAL_VALUE</a:t>
            </a:r>
            <a:endParaRPr lang="en-US" sz="683" dirty="0"/>
          </a:p>
        </p:txBody>
      </p:sp>
      <p:sp>
        <p:nvSpPr>
          <p:cNvPr id="28" name="Text 25"/>
          <p:cNvSpPr/>
          <p:nvPr/>
        </p:nvSpPr>
        <p:spPr>
          <a:xfrm>
            <a:off x="642938" y="3909417"/>
            <a:ext cx="78581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D7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ИТОГ:</a:t>
            </a:r>
            <a:r>
              <a:rPr lang="en-US" sz="105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Проект представляет собой </a:t>
            </a:r>
            <a:r>
              <a:rPr lang="en-US" sz="987" b="1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production-ready</a:t>
            </a:r>
            <a:r>
              <a:rPr lang="en-US" sz="105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основу для реального сервиса бронирования </a:t>
            </a:r>
            <a:r>
              <a:rPr lang="en-US" sz="1050" dirty="0">
                <a:solidFill>
                  <a:srgbClr val="E0E0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отелей, демонстрируя глубокое понимание принципов проектирования и современных технологий.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2026-03-30T10:45:23Z</dcterms:created>
  <dcterms:modified xsi:type="dcterms:W3CDTF">2026-03-30T10:45:23Z</dcterms:modified>
</cp:coreProperties>
</file>